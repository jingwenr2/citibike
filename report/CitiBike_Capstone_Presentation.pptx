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BF"/>
                </a:solidFill>
                <a:latin typeface="Calibri"/>
              </a:defRPr>
            </a:pPr>
            <a:r>
              <a:t>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NYC Citi Bike Public Investment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Data-driven case for expanding NYC's bike-share network</a:t>
            </a:r>
            <a:br/>
            <a:r>
              <a:t>69.7M trips analyzed  |  2,466 stations  |  XGBoost demand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Jingwen Ruan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800" cy="9144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Citi Bike is a $196M/yr business running at capacity — 50.6% of stations are maxed out. Adding 250 stations nets $11.3M/yr profit with a 17-month payback. SF proves government partnership works; NYC is the 10x opportunity.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92024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69.7M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Total Trips Analyzed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46888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2468880"/>
            <a:ext cx="19202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$196M/yr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Estimated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46888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2468880"/>
            <a:ext cx="19202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50.6%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Stations at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46888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2468880"/>
            <a:ext cx="1920240" cy="5080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17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Expansion Payback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46888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468880"/>
            <a:ext cx="19202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651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+42.5%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Model vs Naive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NYC Citi Bike is the largest bike-share in the Americas (2,466 stations, 69.7M trips)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Supply-constrained, not demand-constrained — 923 stations above 1.5x capacity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E-bikes drive 70% of trips and ~$97M/yr in overage fees alone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XGBoost demand forecast: MAE 11.24 trips/station/day (+42.5% vs naive baseline)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Calibri"/>
              </a:defRPr>
            </a:pPr>
            <a:r>
              <a:t>250-station expansion yields $11.3M/yr net profit; 5-year gap if not investing: ~$400M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00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Why NYC needs to invest in Citi Bike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Problem: Capacity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50.6% of stations operating at or above capacity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923 stations (37.4%) in critical zone (&gt;1.5x capacity)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Peak month: 5.4M trips in June 2026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NYC averages 47.7 trips/station/day vs SF's 16.6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Demand is being turned away, not just unmet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MTA subway reliability declining — riders switching to bikes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IBZ corridor: station deserts in underserved neighborhoods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250 new stations already planned for Bronx/Queens/Brooklyn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But which neighborhoods should be prioritized?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Our model answers: where is unmet demand highest?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2400E"/>
                </a:solidFill>
                <a:latin typeface="Calibri"/>
              </a:defRPr>
            </a:pPr>
            <a:r>
              <a:t>Key insight: This is a supply problem, not a demand problem. Every dock at capacity is a lost trip and lost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00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69.7M trips, 23 features, 3-layer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Data Pipeline &amp;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Citi Bike Trip Histories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16.6M+ trips, monthly CSVs (2024-2026)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alibri"/>
              </a:defRPr>
            </a:pPr>
            <a:r>
              <a:t>Primary ridership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Bay Wheels (SF)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59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8.1M trips, 23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59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alibri"/>
              </a:defRPr>
            </a:pPr>
            <a:r>
              <a:t>Government investment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MTA Subway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300 stations joined to bike stations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73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alibri"/>
              </a:defRPr>
            </a:pPr>
            <a:r>
              <a:t>Transit reliability &amp; proximity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NYC Weather (NOAA)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87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Daily temperature &amp; precipitation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187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alibri"/>
              </a:defRPr>
            </a:pPr>
            <a:r>
              <a:t>Deviation-based weather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Census / Geospatial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IBZ corridor demographics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5F"/>
                </a:solidFill>
                <a:latin typeface="Calibri"/>
              </a:defRPr>
            </a:pPr>
            <a:r>
              <a:t>Equity &amp; access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Architecture:  Data Core (Parquet)  -&gt;  City Context (MTA + Weather)  -&gt;  Investment Web App (Streamlit + XGBoost)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XGBoost Demand Forecast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Predicts daily trip counts per station using 23 features across 6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91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9164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lat, lon,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828800"/>
            <a:ext cx="1691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40280" y="1828800"/>
            <a:ext cx="1691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317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day_of_week, month, quarter, year,</a:t>
            </a:r>
            <a:br/>
            <a:r>
              <a:t>is_weekend, is_holiday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828800"/>
            <a:ext cx="1691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828800"/>
            <a:ext cx="16916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Lag / Rolling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317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lag_1d, lag_7d, roll_mean_7d,</a:t>
            </a:r>
            <a:br/>
            <a:r>
              <a:t>roll_mean_28d, roll_std_7d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828800"/>
            <a:ext cx="1691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6440" y="1828800"/>
            <a:ext cx="1691640" cy="5080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Ridership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317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electric_share, member_share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828800"/>
            <a:ext cx="1691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1828800"/>
            <a:ext cx="16916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MTA 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317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mta_daily_riders, mta_delay_rate,</a:t>
            </a:r>
            <a:br/>
            <a:r>
              <a:t>nearest_mta_distance_km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828800"/>
            <a:ext cx="16916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1828800"/>
            <a:ext cx="169164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19659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Weather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331720"/>
            <a:ext cx="1508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temp_deviation, precip_deviation,</a:t>
            </a:r>
            <a:br/>
            <a:r>
              <a:t>is_bad_weather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Training: 1.44M station-day rows across 2,464 stations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Chronological split: last 60 days held out for testing (137,841 station-days)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Early stopping: 30-round patience on 20% eval holdout (best iteration: 879/1000)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Weather: deviation from monthly climate normals (15C in Jan != 15C in Jul)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3-fold time-series cross-validation for robust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9202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11.24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XGBoost MAE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37160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1920240" cy="50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19.56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Naive Baseline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37160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371600"/>
            <a:ext cx="19202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+42.5%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37160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371600"/>
            <a:ext cx="19202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WAPE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192024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9.35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CV Average 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Test Set Comparison (137,841 station-days)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34747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Naive (7d)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19.56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</a:defRPr>
                      </a:pPr>
                      <a:r>
                        <a:t>+42.5%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39.92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</a:defRPr>
                      </a:pPr>
                      <a:r>
                        <a:t>+46.3%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WAPE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59669"/>
                          </a:solidFill>
                        </a:defRPr>
                      </a:pPr>
                      <a:r>
                        <a:t>+42.5%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8580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Cross-Validation (3-fold)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74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Fold 1: MAE = 6.68 (earliest data, smallest train set)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Fold 2: MAE = 10.12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Fold 3: MAE = 11.24 (matches test set)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Average: MAE = 9.35, WAPE = 20.2%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Consistent performance across time periods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Top features: roll_mean_7d (53.8%) &gt; lag_1d (21.5%) &gt; roll_mean_28d (8.5%) &gt; lag_7d (6.0%)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00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Revenue &amp; Investment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The financial case for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Revenue &amp; E-Bike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3774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$196M/yr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Estimated Annual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3774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377440" cy="5080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$97.2M/yr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E-Bike Overage Fees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371600"/>
            <a:ext cx="23774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237744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E-Bike Trip Share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71600"/>
            <a:ext cx="23774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371600"/>
            <a:ext cx="2377440" cy="5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$239/yr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Annual Membership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E-bikes are the revenue engine: $0.27/min overage drives ~50% of revenue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Member share is growing — stickier, higher LTV user base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Price increased from $220 to $239/yr (Jan 2026) — demand remains strong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DC and Chicago are publicly subsidized; NYC comparison must account for this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Revenue per trip higher in NYC than any comparable US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250-Station Expansion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$11.3M/yr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Net Annual Profit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377440" cy="50800"/>
          </a:xfrm>
          <a:prstGeom prst="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17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37160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237744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~$400M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5-Year Revenue Gap</a:t>
            </a:r>
            <a:br/>
            <a:r>
              <a:t>(invest vs. don't)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7160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371600"/>
            <a:ext cx="23774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New Stations</a:t>
            </a:r>
            <a:br/>
            <a:r>
              <a:t>(Bronx/Queens/Brooklyn)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250 new stations targeting Bronx, Queens, and Brooklyn — same boroughs as IBZ corridor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Our model identifies which neighborhoods the rollout should prioritize first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Stations placed near high-delay MTA stops capture mode-shift demand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Capital investment recovered in under 2 years from incremental revenue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Calibri"/>
              </a:defRPr>
            </a:pPr>
            <a:r>
              <a:t>Not investing has a cost: ~$400M in unrealized revenue over 5 years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00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Government investment works — 6 cities prove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Drag San Francisco city photo here</a:t>
            </a:r>
            <a:br/>
            <a:r>
              <a:t>(right-click &gt; Change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BF"/>
                </a:solidFill>
                <a:latin typeface="Calibri"/>
              </a:defRPr>
            </a:pPr>
            <a:r>
              <a:t>BAY WHEELS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San Francisco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SFMTA integration turned Bay Wheels into transit-connected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8.1M trips across 699 stations (23 months)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Deep SFMTA transit integration (Clipper card, route planning)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$16M MTC expansion + 4,000 shared e-bikes approved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2017 expansion delivered at zero taxpayer expense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NYC is 10x the market — if SF works, NYC works at scale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Drag Paris city photo here</a:t>
            </a:r>
            <a:br/>
            <a:r>
              <a:t>(right-click &gt; Change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BF"/>
                </a:solidFill>
                <a:latin typeface="Calibri"/>
              </a:defRPr>
            </a:pPr>
            <a:r>
              <a:t>VELIB' METROPOLE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world's largest bike-share — sustained by public subsidy for nearly two decades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48.5M trips in 2025 — highest ridership in Europe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1,400+ stations and 16,000+ bikes across 67 municipalities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 docking point roughly every 300 meters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60-70% of operating costs publicly subsidized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Sustained public investment keeps the system expanding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Drag London city photo here</a:t>
            </a:r>
            <a:br/>
            <a:r>
              <a:t>(right-click &gt; Change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BF"/>
                </a:solidFill>
                <a:latin typeface="Calibri"/>
              </a:defRPr>
            </a:pPr>
            <a:r>
              <a:t>SANTANDER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London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 decade of corporate sponsorship funding continuous fleet and station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106M+ hires since 2015 sponsorship began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800+ stations, 10,000 classic bikes, 2,000+ e-bikes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Daily journeys hit 1.5M in 2025 (+12.7% YoY)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New £220M operating contract (Lyft + Serco)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E-bikes (added 2022) already logged 2.3M rides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Drag Montreal city photo here</a:t>
            </a:r>
            <a:br/>
            <a:r>
              <a:t>(right-click &gt; Change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BF"/>
                </a:solidFill>
                <a:latin typeface="Calibri"/>
              </a:defRPr>
            </a:pPr>
            <a:r>
              <a:t>BIXI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Montreal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Public bailout and non-profit restructuring turned bankruptcy into a growth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+146% unique users since 2014 restructuring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1,080 stations and 12,600 bikes (3,200 electric) by 2025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100+ million cumulative trips, record usage every summer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Funded 50% user fees, 25% sponsorship, 25% public subsidy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Reached full financial stability by 2018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Drag Washington, D.C. city photo here</a:t>
            </a:r>
            <a:br/>
            <a:r>
              <a:t>(right-click &gt; Change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BF"/>
                </a:solidFill>
                <a:latin typeface="Calibri"/>
              </a:defRPr>
            </a:pPr>
            <a:r>
              <a:t>CAPITAL BIKESHARE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Washington, D.C.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largest municipally-owned bike-share in the U.S. — and fastest-growing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6+ million trips in 2024 (+36.9% YoY, second consecutive record)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Jointly owned by 8 local governments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55 miles of new bike lanes (35 protected) + 67-mile trail network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E-bikes drive 60%+ of rides after 143% jump in one year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Overtook Chicago's Divvy for #2 spot nationally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Drag Chicago city photo here</a:t>
            </a:r>
            <a:br/>
            <a:r>
              <a:t>(right-click &gt; Change Picture)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BF"/>
                </a:solidFill>
                <a:latin typeface="Calibri"/>
              </a:defRPr>
            </a:pPr>
            <a:r>
              <a:t>DIVVY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Chicago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Self-funding expansion: Lyft's capital investment repaid with revenue-sharing to the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Record 6.8+ million trips in 2025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Expanded to all 50 city wards by 2023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200 new or upgraded stations planned for 2026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Lyft's $50M capital paired with $77M returned to city over 9 years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Owned by Chicago DOT, operated by Lyft since 2019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These Systems Have in Common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Public ownership or a formal public-private partnership — not purely private ventures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Sustained, multi-year capital commitments — dedicated tranches, not one-off grants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Investment shows up directly in ridership and infrastructure growth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Financial sustainability follows investment — BIXI and Divvy prove self-sustaining economics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Every system posted double-digit ridership growth in its most recent reporting period</a:t>
            </a:r>
          </a:p>
          <a:p>
            <a:pPr>
              <a:spcAft>
                <a:spcPts val="14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This is the evidence base for the NYC investment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5F46"/>
                </a:solidFill>
                <a:latin typeface="Calibri"/>
              </a:defRPr>
            </a:pPr>
            <a:r>
              <a:t>These cities are independent, external evidence — not benchmarked against NYC. SF proves the model works; NYC is the 10x opportunity.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FF00B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8-tab Streamlit decision engine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Streamlit Dashboard: 8 Analysis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NYC demand trends, rider/bike mix, hourly heatmap with peak-hour highlighting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47088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Station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385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Interactive map with demand pressure coloring, top-10 rankings, per-station time series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05456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968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Forecast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968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XGBoost-powered scenario model with weather/event sliders and confidence bands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63824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552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MTA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5526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Subway ridership vs bike trips scatter, transit opportunity scoring by neighborhood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22192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13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Success Stories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13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6 global case studies (SF, Paris, London, Montreal, DC, Chicago)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6. Government Investment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Full NPV/BCR planner with editable assumptions and recommendation 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38928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303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7. DOT Support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30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6-argument pitch: gov investment works, MTA failing, green/cheap/healthy, capacity, revenue, market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97296"/>
            <a:ext cx="20116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887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8. Data &amp;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888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Schema documentation, methodology notes, data provenance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Supply, Not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The system is supply-constrained. 50.6% of stations at capacity means demand is being turned away daily.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11480" cy="41148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E-Bikes Are 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70% e-bike share and $0.27/min overage generate ~$97M/yr. E-bike fleet expansion has outsized ROI.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MTA Failures Create Bike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Stations near high-delay subway stops show measurably higher bike usage. Transit unreliability is a tailwind.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411480" cy="41148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Model Validates Station 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17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XGBoost identifies which stations are under-serving demand (+42.5% accuracy vs naive). Lag features dominate, meaning demand is persistent and predictable.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411480" cy="411480"/>
          </a:xfrm>
          <a:prstGeom prst="rect">
            <a:avLst/>
          </a:prstGeom>
          <a:solidFill>
            <a:srgbClr val="FF0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Government Investment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23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SF Bay Wheels proves the model. NYC is 10x the market. 250 new stations pay back in 17 months.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B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 Share internal rebalancing data to refine station-level forecasts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 Pilot 50 stations in highest-demand underserved neighborhoods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 Integrate with NYC DOT for transit-connected bike corridors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 Extend model to hourly granularity for real-time rebalancing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 Cross-city rollout: apply framework to DC, Chicago, and new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Data-driven decisions for NYC's bike-share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