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2"/>
  </p:notesMasterIdLst>
  <p:sldIdLst>
    <p:sldId id="271" r:id="rId5"/>
    <p:sldId id="257" r:id="rId6"/>
    <p:sldId id="258" r:id="rId7"/>
    <p:sldId id="259" r:id="rId8"/>
    <p:sldId id="260" r:id="rId9"/>
    <p:sldId id="261" r:id="rId10"/>
    <p:sldId id="262" r:id="rId11"/>
    <p:sldId id="274" r:id="rId12"/>
    <p:sldId id="263" r:id="rId13"/>
    <p:sldId id="264" r:id="rId14"/>
    <p:sldId id="265" r:id="rId15"/>
    <p:sldId id="266" r:id="rId16"/>
    <p:sldId id="272" r:id="rId17"/>
    <p:sldId id="267" r:id="rId18"/>
    <p:sldId id="269" r:id="rId19"/>
    <p:sldId id="270" r:id="rId20"/>
    <p:sldId id="273" r:id="rId21"/>
  </p:sldIdLst>
  <p:sldSz cx="12192000" cy="6858000"/>
  <p:notesSz cx="6858000" cy="12192000"/>
  <p:embeddedFontLst>
    <p:embeddedFont>
      <p:font typeface="Nunito Sans Bold" pitchFamily="2" charset="77"/>
      <p:regular r:id="rId23"/>
      <p:bold r:id="rId24"/>
    </p:embeddedFont>
    <p:embeddedFont>
      <p:font typeface="Source Serif 4" panose="02040603050405020204" pitchFamily="18" charset="0"/>
      <p:regular r:id="rId25"/>
    </p:embeddedFont>
    <p:embeddedFont>
      <p:font typeface="Source Serif 4 Bold" panose="02040603050405020204" pitchFamily="18" charset="0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4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88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31E2-127D-4800-DE89-2CF67F3B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B1786-CE90-81A6-59BE-2D2AC2D21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776D-8E20-EF49-84E6-005D39DC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0FB61-AC25-662F-8969-6833E7621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09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BF21-7465-499C-0AFA-84F565B8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821BA-9B20-B95C-047A-018097D7C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7CF70-EBF8-3190-FBF7-84609CD3B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8597-F986-6F26-F1E4-3F7D80C57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92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1D91FE2B-9704-58B2-14E5-9FE35E8B8BCA}"/>
              </a:ext>
            </a:extLst>
          </p:cNvPr>
          <p:cNvSpPr/>
          <p:nvPr/>
        </p:nvSpPr>
        <p:spPr>
          <a:xfrm>
            <a:off x="780742" y="1837759"/>
            <a:ext cx="10630514" cy="2112014"/>
          </a:xfrm>
          <a:prstGeom prst="roundRect">
            <a:avLst>
              <a:gd name="adj" fmla="val 5594"/>
            </a:avLst>
          </a:prstGeom>
          <a:solidFill>
            <a:srgbClr val="05336B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59CD8E4-C743-D7DF-D429-F37EF9EBBB2D}"/>
              </a:ext>
            </a:extLst>
          </p:cNvPr>
          <p:cNvSpPr/>
          <p:nvPr/>
        </p:nvSpPr>
        <p:spPr>
          <a:xfrm>
            <a:off x="554321" y="2661197"/>
            <a:ext cx="10868745" cy="465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600" b="1">
                <a:solidFill>
                  <a:srgbClr val="FFFFFF"/>
                </a:solidFill>
              </a:rPr>
              <a:t>CityCycle NYC</a:t>
            </a:r>
            <a:endParaRPr lang="en-US" sz="3200" dirty="0">
              <a:solidFill>
                <a:schemeClr val="bg1"/>
              </a:solidFill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FF00BF"/>
                </a:solidFill>
              </a:rPr>
              <a:t>A Data-Driven Investment Case for Citi Bike Expansion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057F6DF-730F-DBD0-DC99-AD33A5FCBD88}"/>
              </a:ext>
            </a:extLst>
          </p:cNvPr>
          <p:cNvSpPr/>
          <p:nvPr/>
        </p:nvSpPr>
        <p:spPr>
          <a:xfrm>
            <a:off x="356834" y="5562738"/>
            <a:ext cx="11478330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FFFFFF"/>
                </a:solidFill>
              </a:rPr>
              <a:t>TTPR Summer 2026   |   Nathan   |   Jenny   |   Nosaifa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7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276" y="7350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Team and Roles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276" y="134254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100" b="0">
                <a:solidFill>
                  <a:srgbClr val="0F172A"/>
                </a:solidFill>
              </a:rPr>
              <a:t/>
            </a:r>
          </a:p>
          <a:p>
            <a:pPr>
              <a:lnSpc>
                <a:spcPct val="133000"/>
              </a:lnSpc>
            </a:pP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375" y="2023913"/>
            <a:ext cx="3512653" cy="1150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718" y="2379310"/>
            <a:ext cx="3143965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Nathan — Data Engineer &amp; Backend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322" y="2023913"/>
            <a:ext cx="3512752" cy="11508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23666" y="2297477"/>
            <a:ext cx="3144064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Pipeline  ·  ETL  ·  Revenue modeling  ·  MTA integration</a:t>
            </a:r>
            <a:endParaRPr lang="en-US" sz="16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5D52607-4740-3B8E-DFA0-76028702A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77" y="3310224"/>
            <a:ext cx="3512653" cy="1150877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F21FCB0F-5D1E-E644-5EAE-2DEF2FD4E8DC}"/>
              </a:ext>
            </a:extLst>
          </p:cNvPr>
          <p:cNvSpPr/>
          <p:nvPr/>
        </p:nvSpPr>
        <p:spPr>
          <a:xfrm>
            <a:off x="845717" y="3665858"/>
            <a:ext cx="3143965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Jenny — Data Analyst &amp; Dashboard</a:t>
            </a:r>
            <a:endParaRPr lang="en-US" sz="1600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71F1F18B-593E-974F-C923-7DCDC8C69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624" y="3310224"/>
            <a:ext cx="3512752" cy="1150877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1CBAD6F8-67C3-4918-4D6B-277F757655EC}"/>
              </a:ext>
            </a:extLst>
          </p:cNvPr>
          <p:cNvSpPr/>
          <p:nvPr/>
        </p:nvSpPr>
        <p:spPr>
          <a:xfrm>
            <a:off x="4523968" y="3583788"/>
            <a:ext cx="3144064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Streamlit dashboard  ·  Plotly charts  ·  UX design</a:t>
            </a:r>
            <a:endParaRPr lang="en-US" sz="1600" dirty="0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16968632-3A0B-8968-8C8E-DA088CBE4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77" y="4596535"/>
            <a:ext cx="3512653" cy="1150877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360A638D-91B5-F9D2-399C-653303B76989}"/>
              </a:ext>
            </a:extLst>
          </p:cNvPr>
          <p:cNvSpPr/>
          <p:nvPr/>
        </p:nvSpPr>
        <p:spPr>
          <a:xfrm>
            <a:off x="846020" y="4951932"/>
            <a:ext cx="3143965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Nosaifa — ML Engineer &amp; Forecast</a:t>
            </a:r>
            <a:endParaRPr lang="en-US" sz="1600" dirty="0"/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290030BD-8ABA-6C28-5B74-6750833E1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624" y="4596535"/>
            <a:ext cx="3512752" cy="1150877"/>
          </a:xfrm>
          <a:prstGeom prst="rect">
            <a:avLst/>
          </a:prstGeom>
        </p:spPr>
      </p:pic>
      <p:sp>
        <p:nvSpPr>
          <p:cNvPr id="34" name="Text 6">
            <a:extLst>
              <a:ext uri="{FF2B5EF4-FFF2-40B4-BE49-F238E27FC236}">
                <a16:creationId xmlns:a16="http://schemas.microsoft.com/office/drawing/2014/main" id="{017D84F8-6F6B-DFC5-D056-215CE3E57974}"/>
              </a:ext>
            </a:extLst>
          </p:cNvPr>
          <p:cNvSpPr/>
          <p:nvPr/>
        </p:nvSpPr>
        <p:spPr>
          <a:xfrm>
            <a:off x="4523968" y="4870099"/>
            <a:ext cx="3144064" cy="16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XGBoost  ·  Feature engineering  ·  Cross-validation</a:t>
            </a:r>
            <a:endParaRPr lang="en-US" sz="1600" dirty="0"/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7C69142A-24DB-C9EA-528A-AC94D25716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8251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About Project. Business Problem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58988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2305149"/>
            <a:ext cx="5470785" cy="4045248"/>
          </a:xfrm>
          <a:prstGeom prst="roundRect">
            <a:avLst>
              <a:gd name="adj" fmla="val 5887"/>
            </a:avLst>
          </a:prstGeom>
          <a:solidFill>
            <a:srgbClr val="05336B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7710" y="2470448"/>
            <a:ext cx="514019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FF00BF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7710" y="2894211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F172A"/>
                </a:solidFill>
              </a:rPr>
              <a:t>Citi Bike is a $196M/yr business — but 50% of stations are at capacity.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</a:rPr>
              <a:t>MTA subway delays push commuters toward alternatives. No data-driven expansion plan exists.</a:t>
            </a:r>
          </a:p>
        </p:txBody>
      </p:sp>
      <p:sp>
        <p:nvSpPr>
          <p:cNvPr id="9" name="Text 7"/>
          <p:cNvSpPr/>
          <p:nvPr/>
        </p:nvSpPr>
        <p:spPr>
          <a:xfrm>
            <a:off x="707710" y="3836888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sz="1000" b="0">
                <a:solidFill>
                  <a:srgbClr val="0F172A"/>
                </a:solidFill>
              </a:rPr>
              <a:t>▸  8.3M residents depend on aging transit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▸  Lyft leaves revenue on the table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▸  City planners lack demand forecasts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00BF"/>
                </a:solidFill>
              </a:rPr>
              <a:t>▸  $11.3M/yr unrealized net profit</a:t>
            </a:r>
          </a:p>
        </p:txBody>
      </p:sp>
      <p:sp>
        <p:nvSpPr>
          <p:cNvPr id="10" name="Text 8"/>
          <p:cNvSpPr/>
          <p:nvPr/>
        </p:nvSpPr>
        <p:spPr>
          <a:xfrm>
            <a:off x="6297554" y="2350449"/>
            <a:ext cx="523266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FFFFFF"/>
                </a:solidFill>
              </a:rPr>
              <a:t>Global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3904" y="3572272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03904" y="2840249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FFFFFF"/>
                </a:solidFill>
              </a:rPr>
              <a:t>China's dockless bike-share proved demand but failed globally (no docks, no gov partnership).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00BF"/>
                </a:solidFill>
              </a:rPr>
              <a:t>Citi Bike's dock-based model works. SF, DC, Chicago confirm it.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FFC91A04-7FD7-E87B-971D-A67C6B26B4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1537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Project Impact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1849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633762"/>
            <a:ext cx="3512653" cy="2275979"/>
          </a:xfrm>
          <a:prstGeom prst="roundRect">
            <a:avLst>
              <a:gd name="adj" fmla="val 6540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799060"/>
            <a:ext cx="3182064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Market 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156744"/>
            <a:ext cx="31820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FFFFFF"/>
                </a:solidFill>
              </a:rPr>
              <a:t>$5B+ global market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</a:rPr>
              <a:t>growing 12% annually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NYC = largest system in Americas</a:t>
            </a:r>
          </a:p>
        </p:txBody>
      </p:sp>
      <p:sp>
        <p:nvSpPr>
          <p:cNvPr id="9" name="Shape 7"/>
          <p:cNvSpPr/>
          <p:nvPr/>
        </p:nvSpPr>
        <p:spPr>
          <a:xfrm>
            <a:off x="4339422" y="2633762"/>
            <a:ext cx="3512752" cy="2275979"/>
          </a:xfrm>
          <a:prstGeom prst="roundRect">
            <a:avLst>
              <a:gd name="adj" fmla="val 6540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4716" y="2799060"/>
            <a:ext cx="3182163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By the Numbers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3156744"/>
            <a:ext cx="318216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FF00BF"/>
                </a:solidFill>
              </a:rPr>
              <a:t>$196M/yr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</a:rPr>
              <a:t>annual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D7FF9"/>
                </a:solidFill>
              </a:rPr>
              <a:t>60.9M trips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</a:rPr>
              <a:t>in our dataset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</a:rPr>
              <a:t>50%+ stations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at capacity</a:t>
            </a:r>
          </a:p>
        </p:txBody>
      </p:sp>
      <p:sp>
        <p:nvSpPr>
          <p:cNvPr id="12" name="Shape 10"/>
          <p:cNvSpPr/>
          <p:nvPr/>
        </p:nvSpPr>
        <p:spPr>
          <a:xfrm>
            <a:off x="8017468" y="2633762"/>
            <a:ext cx="3512653" cy="2275979"/>
          </a:xfrm>
          <a:prstGeom prst="roundRect">
            <a:avLst>
              <a:gd name="adj" fmla="val 6540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2762" y="2799060"/>
            <a:ext cx="3182064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Cost of Inaction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3156744"/>
            <a:ext cx="31820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Without expansion: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▸  Riders lost to competitors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▸  $11.3M/yr unrealized profit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▸  Underserved neighborhoods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0DDA8C73-F517-E2EC-544A-E578D1047C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4" y="114964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Project Objectives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7279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053358"/>
            <a:ext cx="523266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FFFF"/>
                </a:solidFill>
              </a:rPr>
              <a:t>Project Goals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1475" y="3477121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1.  Build XGBoost demand forecast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4A3B8"/>
                </a:solidFill>
              </a:rPr>
              <a:t>     Predict daily station-level trips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2.  Identify expansion opportunities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4A3B8"/>
                </a:solidFill>
              </a:rPr>
              <a:t>     MTA transit + bike demand scoring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3.  Calculate expansion ROI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4A3B8"/>
                </a:solidFill>
              </a:rPr>
              <a:t>     NPV, IRR, payback period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</a:rPr>
              <a:t>4.  Build interactive dashboard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     For government decision-makers</a:t>
            </a:r>
          </a:p>
        </p:txBody>
      </p:sp>
      <p:sp>
        <p:nvSpPr>
          <p:cNvPr id="9" name="Shape 7"/>
          <p:cNvSpPr/>
          <p:nvPr/>
        </p:nvSpPr>
        <p:spPr>
          <a:xfrm>
            <a:off x="6184844" y="2888060"/>
            <a:ext cx="5470785" cy="2561928"/>
          </a:xfrm>
          <a:prstGeom prst="roundRect">
            <a:avLst>
              <a:gd name="adj" fmla="val 8271"/>
            </a:avLst>
          </a:prstGeom>
          <a:solidFill>
            <a:srgbClr val="05336B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0139" y="3053358"/>
            <a:ext cx="514019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Success Metrics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139" y="3477121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F172A"/>
                </a:solidFill>
              </a:rPr>
              <a:t>MAE &lt; 12 trips/day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0B981"/>
                </a:solidFill>
              </a:rPr>
              <a:t>   Achieved: 11.24  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</a:rPr>
              <a:t>Beat baseline &gt; 30%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0B981"/>
                </a:solidFill>
              </a:rPr>
              <a:t>   Achieved: 42.5%  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</a:rPr>
              <a:t>CV MAE &lt; 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0B981"/>
                </a:solidFill>
              </a:rPr>
              <a:t>   Achieved: 9.35  ✓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A613010-765F-7154-F3CA-24A2FE30C7AC}"/>
              </a:ext>
            </a:extLst>
          </p:cNvPr>
          <p:cNvSpPr/>
          <p:nvPr/>
        </p:nvSpPr>
        <p:spPr>
          <a:xfrm>
            <a:off x="661475" y="4814490"/>
            <a:ext cx="523266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FFFF"/>
                </a:solidFill>
              </a:rPr>
              <a:t>Break-Even Analysis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250 stations × $128K = $32M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BF"/>
                </a:solidFill>
              </a:rPr>
              <a:t>Net profit: $11.3M/yr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</a:rPr>
              <a:t>Payback: 17 months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96A9D824-2825-4282-E837-AD8F54BEFD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4" y="10690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Data Sources &amp; Data Quality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4549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60762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577" y="2760762"/>
            <a:ext cx="2864969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Trip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1577" y="3118445"/>
            <a:ext cx="286496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</a:rPr>
              <a:t>Citi Bike trip records (2+ years)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4A3B8"/>
                </a:solidFill>
              </a:rPr>
              <a:t>60.9M trips · station · timestamp · rider type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3213" y="2760762"/>
            <a:ext cx="413434" cy="413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3315" y="2760762"/>
            <a:ext cx="2865068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Transit &amp; Weather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73315" y="3118445"/>
            <a:ext cx="286506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</a:rPr>
              <a:t>MTA subway ridership + delays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4A3B8"/>
                </a:solidFill>
              </a:rPr>
              <a:t>NOAA weather · NYC open data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5050" y="2760762"/>
            <a:ext cx="413434" cy="413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65152" y="2760762"/>
            <a:ext cx="2865068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Pricing &amp; Revenue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65152" y="3118445"/>
            <a:ext cx="286506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$239 annual / $4.49 single ride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4A3B8"/>
                </a:solidFill>
              </a:rPr>
              <a:t>$17.5M Citi sponsorship</a:t>
            </a:r>
          </a:p>
        </p:txBody>
      </p:sp>
      <p:sp>
        <p:nvSpPr>
          <p:cNvPr id="15" name="Text 10"/>
          <p:cNvSpPr/>
          <p:nvPr/>
        </p:nvSpPr>
        <p:spPr>
          <a:xfrm>
            <a:off x="661475" y="4528245"/>
            <a:ext cx="523266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Data Quality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1475" y="4952008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Null stations dropped (&lt;0.1%)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4A3B8"/>
                </a:solidFill>
              </a:rPr>
              <a:t>Weather forward-filled ≤2 days</a:t>
            </a:r>
          </a:p>
        </p:txBody>
      </p:sp>
      <p:sp>
        <p:nvSpPr>
          <p:cNvPr id="17" name="Text 12"/>
          <p:cNvSpPr/>
          <p:nvPr/>
        </p:nvSpPr>
        <p:spPr>
          <a:xfrm>
            <a:off x="6303904" y="4528245"/>
            <a:ext cx="5232666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3904" y="4952008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</a:rPr>
              <a:t>23 features engineered: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4A3B8"/>
                </a:solidFill>
              </a:rPr>
              <a:t>Lags · rolling means · weather · MTA scores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2CE48ECF-FE5D-611F-3DC0-9418159AE7B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822722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Analytical Methods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26" y="1299286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" b="0">
                <a:solidFill>
                  <a:srgbClr val="0F172A"/>
                </a:solidFill>
              </a:rPr>
              <a:t/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26" y="1593073"/>
            <a:ext cx="5354206" cy="195877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0751" y="1739520"/>
            <a:ext cx="195357" cy="1953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3190" y="2244246"/>
            <a:ext cx="4990677" cy="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Python / Pandas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3190" y="2594687"/>
            <a:ext cx="499067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ETL pipeline · feature engineering · Parquet I/O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866" y="1593073"/>
            <a:ext cx="5354305" cy="195877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5291" y="1739520"/>
            <a:ext cx="195357" cy="1953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57630" y="2244246"/>
            <a:ext cx="4990777" cy="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Streamlit / Plotly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357630" y="2594687"/>
            <a:ext cx="4990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9-tab interactive dashboard on Streamlit Cloud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26" y="3712088"/>
            <a:ext cx="5354206" cy="195877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0751" y="3858535"/>
            <a:ext cx="195357" cy="1953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3190" y="4363261"/>
            <a:ext cx="4990677" cy="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XGBoost / scikit-learn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43190" y="4713701"/>
            <a:ext cx="49906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94A3B8"/>
                </a:solidFill>
              </a:rPr>
              <a:t>Demand forecast · 3-fold time-series CV · early stopping</a:t>
            </a:r>
            <a:endParaRPr lang="en-US" sz="12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866" y="3712088"/>
            <a:ext cx="5354305" cy="195877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55291" y="3858535"/>
            <a:ext cx="195357" cy="19536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357630" y="4363261"/>
            <a:ext cx="4990777" cy="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Financial Modeling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6357630" y="4713702"/>
            <a:ext cx="4990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NPV/IRR cash flow · MTA opportunity scoring</a:t>
            </a:r>
            <a:endParaRPr lang="en-US" sz="1250" dirty="0"/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4C4BCC5A-6FDB-3778-E7CD-6EBD155AAAB8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2FE4-82A4-BB85-F245-2953A1E1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0DDE63F-799C-A180-CDBD-8C62F507082A}"/>
              </a:ext>
            </a:extLst>
          </p:cNvPr>
          <p:cNvSpPr/>
          <p:nvPr/>
        </p:nvSpPr>
        <p:spPr>
          <a:xfrm>
            <a:off x="661475" y="822722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Usage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1E896C-8CE9-2F93-5AD9-75B0E3BE2BA4}"/>
              </a:ext>
            </a:extLst>
          </p:cNvPr>
          <p:cNvSpPr/>
          <p:nvPr/>
        </p:nvSpPr>
        <p:spPr>
          <a:xfrm>
            <a:off x="661426" y="1299286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</a:rPr>
              <a:t>How we used AI as a pair-programmer across the full project lifecycle.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3639C62-D5ED-98F3-53E9-0B7853C6F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26" y="1593073"/>
            <a:ext cx="5354206" cy="1958777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DBA2EC3-20E0-8FA2-BDF5-015300E2E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0751" y="1739520"/>
            <a:ext cx="195357" cy="195362"/>
          </a:xfrm>
          <a:prstGeom prst="rect">
            <a:avLst/>
          </a:prstGeom>
        </p:spPr>
      </p:pic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731B2C91-9B91-6C4C-3887-6C761509D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866" y="1593073"/>
            <a:ext cx="5354305" cy="1958777"/>
          </a:xfrm>
          <a:prstGeom prst="rect">
            <a:avLst/>
          </a:prstGeom>
        </p:spPr>
      </p:pic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0525E5A0-B570-B18B-E31E-B03249A1C4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5291" y="1739520"/>
            <a:ext cx="195357" cy="195362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C949D0A-4065-2F0D-129C-20C8DF942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26" y="3712088"/>
            <a:ext cx="5354206" cy="1958777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6C5A02E2-DBE3-1422-CA9B-9F4EE4F121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0751" y="3858535"/>
            <a:ext cx="195357" cy="195362"/>
          </a:xfrm>
          <a:prstGeom prst="rect">
            <a:avLst/>
          </a:prstGeom>
        </p:spPr>
      </p:pic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8A86F530-41A3-4FF6-BA89-D6496068C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866" y="3712088"/>
            <a:ext cx="5354305" cy="1958777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C8C75FF2-5A80-4912-8252-B9D30F1D5C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55291" y="3858535"/>
            <a:ext cx="195357" cy="195362"/>
          </a:xfrm>
          <a:prstGeom prst="rect">
            <a:avLst/>
          </a:prstGeom>
        </p:spPr>
      </p:pic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FB2A5C9A-5A94-4AEA-6C31-086E1F0F1FAA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1828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Claude Code (Anthropic)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AI pair-programmer for dashboard,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modeling, ETL, and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Dashboard Development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9-tab Streamlit app with Plotly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charts, maps, and interactive filters.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XGBoost Modeling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Feature engineering, hyperparameter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tuning, 3-fold time-series CV.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Code Review &amp;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All code reviewed, stress-tested,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and co-authored by the team.</a:t>
            </a:r>
          </a:p>
        </p:txBody>
      </p:sp>
    </p:spTree>
    <p:extLst>
      <p:ext uri="{BB962C8B-B14F-4D97-AF65-F5344CB8AC3E}">
        <p14:creationId xmlns:p14="http://schemas.microsoft.com/office/powerpoint/2010/main" val="1428466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90189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Data Analytics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4" y="1579760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</a:rPr>
              <a:t>Patterns from 60.9M trips across 2,476 stations.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4300" y="2622550"/>
            <a:ext cx="5470190" cy="3370560"/>
          </a:xfrm>
          <a:prstGeom prst="roundRect">
            <a:avLst>
              <a:gd name="adj" fmla="val 6956"/>
            </a:avLst>
          </a:prstGeom>
          <a:solidFill>
            <a:srgbClr val="05336B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7015" y="2841361"/>
            <a:ext cx="51447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0377" y="3917487"/>
            <a:ext cx="5235841" cy="1145084"/>
          </a:xfrm>
          <a:prstGeom prst="roundRect">
            <a:avLst>
              <a:gd name="adj" fmla="val 12796"/>
            </a:avLst>
          </a:prstGeom>
          <a:solidFill>
            <a:srgbClr val="CEE3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DA7B765C-93A7-800E-918D-E40CA4C63D1B}"/>
              </a:ext>
            </a:extLst>
          </p:cNvPr>
          <p:cNvSpPr/>
          <p:nvPr/>
        </p:nvSpPr>
        <p:spPr>
          <a:xfrm>
            <a:off x="6554140" y="2530474"/>
            <a:ext cx="10868745" cy="50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800" b="1">
                <a:solidFill>
                  <a:srgbClr val="FF00BF"/>
                </a:solidFill>
              </a:rPr>
              <a:t>50%+</a:t>
            </a:r>
            <a:endParaRPr lang="en-US" sz="3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DE69EA2-5C89-0849-AC60-692001CB92B8}"/>
              </a:ext>
            </a:extLst>
          </p:cNvPr>
          <p:cNvSpPr/>
          <p:nvPr/>
        </p:nvSpPr>
        <p:spPr>
          <a:xfrm>
            <a:off x="6434871" y="3085255"/>
            <a:ext cx="91627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stations at capacity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6B6A4A9-41C2-0E92-71E4-B58D128DB943}"/>
              </a:ext>
            </a:extLst>
          </p:cNvPr>
          <p:cNvSpPr/>
          <p:nvPr/>
        </p:nvSpPr>
        <p:spPr>
          <a:xfrm>
            <a:off x="7877547" y="2530473"/>
            <a:ext cx="10868745" cy="50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800" b="1">
                <a:solidFill>
                  <a:srgbClr val="2D7FF9"/>
                </a:solidFill>
              </a:rPr>
              <a:t>$196M</a:t>
            </a:r>
            <a:endParaRPr lang="en-US" sz="3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3D0F778-607C-EE53-CE04-D0011870D1EB}"/>
              </a:ext>
            </a:extLst>
          </p:cNvPr>
          <p:cNvSpPr/>
          <p:nvPr/>
        </p:nvSpPr>
        <p:spPr>
          <a:xfrm>
            <a:off x="7771531" y="3096006"/>
            <a:ext cx="91627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annual revenue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26DFC8-0180-3DA5-79FC-89EF5285765D}"/>
              </a:ext>
            </a:extLst>
          </p:cNvPr>
          <p:cNvSpPr txBox="1"/>
          <p:nvPr/>
        </p:nvSpPr>
        <p:spPr>
          <a:xfrm>
            <a:off x="8918649" y="2711936"/>
            <a:ext cx="2477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</a:rPr>
              <a:t>42.5%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</a:rPr>
              <a:t>better than baseline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7FF9"/>
                </a:solidFill>
              </a:rPr>
              <a:t>0.987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</a:rPr>
              <a:t>prediction correlation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23CAB7BB-5EF7-4BCD-5A0B-BEA38AB574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  <p:pic>
        <p:nvPicPr>
          <p:cNvPr id="22" name="Picture 21" descr="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48463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678954"/>
            <a:ext cx="10868745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FFFFFF"/>
                </a:solidFill>
              </a:rPr>
              <a:t>Interactive Streamlit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162247"/>
            <a:ext cx="11478330" cy="119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>
                <a:solidFill>
                  <a:srgbClr val="94A3B8"/>
                </a:solidFill>
              </a:rPr>
              <a:t>9 tabs · real-time filters · deployed on Streamlit Community Cloud</a:t>
            </a:r>
          </a:p>
          <a:p>
            <a:pPr marL="0" indent="0" algn="l">
              <a:lnSpc>
                <a:spcPct val="113000"/>
              </a:lnSpc>
              <a:buNone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12A4F-4771-5CB9-A654-CF0AFD85AE48}"/>
              </a:ext>
            </a:extLst>
          </p:cNvPr>
          <p:cNvSpPr txBox="1"/>
          <p:nvPr/>
        </p:nvSpPr>
        <p:spPr>
          <a:xfrm>
            <a:off x="4585251" y="3198167"/>
            <a:ext cx="3282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00BF"/>
                </a:solidFill>
              </a:rPr>
              <a:t>citibike-citycycle.streamlit.app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376" y="9190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Predictive Insights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375" y="150554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633762"/>
            <a:ext cx="3512653" cy="2540595"/>
          </a:xfrm>
          <a:prstGeom prst="roundRect">
            <a:avLst>
              <a:gd name="adj" fmla="val 5859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2799060"/>
            <a:ext cx="3182064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XGBoost Forecast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156744"/>
            <a:ext cx="3182064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</a:rPr>
              <a:t>23 engineered features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</a:rPr>
              <a:t>Temporal lags, weather, MTA 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BF"/>
                </a:solidFill>
              </a:rPr>
              <a:t>MAE: 11.24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Accuracy: 93%</a:t>
            </a:r>
          </a:p>
        </p:txBody>
      </p:sp>
      <p:sp>
        <p:nvSpPr>
          <p:cNvPr id="9" name="Shape 7"/>
          <p:cNvSpPr/>
          <p:nvPr/>
        </p:nvSpPr>
        <p:spPr>
          <a:xfrm>
            <a:off x="4339422" y="2633762"/>
            <a:ext cx="3512752" cy="2540595"/>
          </a:xfrm>
          <a:prstGeom prst="roundRect">
            <a:avLst>
              <a:gd name="adj" fmla="val 5859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4716" y="2799060"/>
            <a:ext cx="3182163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Expansion Priorities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3156744"/>
            <a:ext cx="318216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FFFFFF"/>
                </a:solidFill>
              </a:rPr>
              <a:t>Demand &gt; capacity =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priority expansion zone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MTA scores rank locations</a:t>
            </a:r>
          </a:p>
        </p:txBody>
      </p:sp>
      <p:sp>
        <p:nvSpPr>
          <p:cNvPr id="12" name="Shape 10"/>
          <p:cNvSpPr/>
          <p:nvPr/>
        </p:nvSpPr>
        <p:spPr>
          <a:xfrm>
            <a:off x="8017468" y="2633762"/>
            <a:ext cx="3512653" cy="2540595"/>
          </a:xfrm>
          <a:prstGeom prst="roundRect">
            <a:avLst>
              <a:gd name="adj" fmla="val 5859"/>
            </a:avLst>
          </a:prstGeom>
          <a:solidFill>
            <a:srgbClr val="FFFFFF"/>
          </a:solidFill>
          <a:ln/>
          <a:effectLst>
            <a:outerShdw blurRad="2476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2762" y="2799060"/>
            <a:ext cx="3182064" cy="25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Transit Opportunity 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3156744"/>
            <a:ext cx="31820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FFFFFF"/>
                </a:solidFill>
              </a:rPr>
              <a:t>Score 0–100 combining: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MTA ridership + delay rates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</a:rPr>
              <a:t>+ bike station proximity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00BF"/>
                </a:solidFill>
              </a:rPr>
              <a:t>High = unmet transit demand</a:t>
            </a:r>
          </a:p>
        </p:txBody>
      </p:sp>
      <p:sp>
        <p:nvSpPr>
          <p:cNvPr id="15" name="Shape 13"/>
          <p:cNvSpPr/>
          <p:nvPr/>
        </p:nvSpPr>
        <p:spPr>
          <a:xfrm>
            <a:off x="661475" y="5360393"/>
            <a:ext cx="10868745" cy="417556"/>
          </a:xfrm>
          <a:prstGeom prst="roundRect">
            <a:avLst>
              <a:gd name="adj" fmla="val 22509"/>
            </a:avLst>
          </a:prstGeom>
          <a:solidFill>
            <a:srgbClr val="CEE3FD"/>
          </a:solidFill>
          <a:ln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7" name="Text 14"/>
          <p:cNvSpPr/>
          <p:nvPr/>
        </p:nvSpPr>
        <p:spPr>
          <a:xfrm>
            <a:off x="661375" y="2133997"/>
            <a:ext cx="11213820" cy="2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300" dirty="0"/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E1335D58-4302-B468-B08E-BE320894E4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058763"/>
            <a:ext cx="10868745" cy="51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FFFFFF"/>
                </a:solidFill>
              </a:rPr>
              <a:t>Live Dashboard Demo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2354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00BF"/>
                </a:solidFill>
              </a:rPr>
              <a:t>citibike-citycycle.streamlit.app</a:t>
            </a:r>
            <a:endParaRPr lang="en-US" sz="1300" dirty="0"/>
          </a:p>
        </p:txBody>
      </p:sp>
      <p:pic>
        <p:nvPicPr>
          <p:cNvPr id="6" name="Picture 5" descr="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10515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C19E-48D8-05B8-1282-DB6C4A03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6C336B4-3C39-50BF-9DD2-8C9B172C220A}"/>
              </a:ext>
            </a:extLst>
          </p:cNvPr>
          <p:cNvSpPr/>
          <p:nvPr/>
        </p:nvSpPr>
        <p:spPr>
          <a:xfrm>
            <a:off x="661376" y="9190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Results</a:t>
            </a:r>
            <a:endParaRPr lang="en-US" sz="32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1278E2-952B-76E5-CF59-A32793C2890A}"/>
              </a:ext>
            </a:extLst>
          </p:cNvPr>
          <p:cNvSpPr/>
          <p:nvPr/>
        </p:nvSpPr>
        <p:spPr>
          <a:xfrm>
            <a:off x="661375" y="150554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94A3B8"/>
                </a:solidFill>
              </a:rPr>
              <a:t>Where to expand: Top 10 transit opportunity zones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A32663A-3DDD-B4EC-A08B-076A98159AC7}"/>
              </a:ext>
            </a:extLst>
          </p:cNvPr>
          <p:cNvSpPr/>
          <p:nvPr/>
        </p:nvSpPr>
        <p:spPr>
          <a:xfrm>
            <a:off x="661475" y="5360393"/>
            <a:ext cx="10868745" cy="417556"/>
          </a:xfrm>
          <a:prstGeom prst="roundRect">
            <a:avLst>
              <a:gd name="adj" fmla="val 22509"/>
            </a:avLst>
          </a:prstGeom>
          <a:solidFill>
            <a:srgbClr val="CEE3FD"/>
          </a:solidFill>
          <a:ln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" b="0">
                <a:solidFill>
                  <a:srgbClr val="0F172A"/>
                </a:solidFill>
              </a:rPr>
              <a:t/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52F33648-BCC0-9F1A-54AD-D807A7C75D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  <p:pic>
        <p:nvPicPr>
          <p:cNvPr id="16" name="Picture 15" descr="to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1078992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89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9015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Business Impact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662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94A3B8"/>
                </a:solidFill>
              </a:rPr>
              <a:t>The investment case in three numbers: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91" y="2503091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CEE3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7183" y="2751138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00BF"/>
                </a:solidFill>
              </a:rPr>
              <a:t>$11.3M/yr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</a:rPr>
              <a:t>net operating profit from 250 new stations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</a:rPr>
              <a:t>$32M total investment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</a:rPr>
              <a:t>17-month payback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D7FF9"/>
                </a:solidFill>
              </a:rPr>
              <a:t>Reduced congestion + lower emissions for 8.3M residents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1BAACA58-9685-F85A-5F6D-0E42921FF9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8968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Recommendations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08113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B67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 with clear, actionable strategy, not generic suggestions about “future research”. This slide proves that your team can think beyond the data and guide organizational decision-making.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0274" y="1958578"/>
            <a:ext cx="5465328" cy="4371181"/>
          </a:xfrm>
          <a:prstGeom prst="roundRect">
            <a:avLst>
              <a:gd name="adj" fmla="val 4631"/>
            </a:avLst>
          </a:prstGeom>
          <a:solidFill>
            <a:srgbClr val="05336B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0765" y="2078038"/>
            <a:ext cx="5184348" cy="21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FFFF"/>
                </a:solidFill>
              </a:rPr>
              <a:t>Strategic Next Steps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49622" y="1865759"/>
            <a:ext cx="5262927" cy="60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43" y="2431951"/>
            <a:ext cx="421669" cy="952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14769" y="2572445"/>
            <a:ext cx="472180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677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Phase 1. Validate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14769" y="2911475"/>
            <a:ext cx="472180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50 stations in top MTA zones</a:t>
            </a:r>
            <a:endParaRPr lang="en-US" sz="11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Measure actual vs predicted × 6 months</a:t>
            </a: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78" y="3587552"/>
            <a:ext cx="421669" cy="952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25603" y="3728045"/>
            <a:ext cx="451096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677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Phase 2. Scale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025603" y="4067076"/>
            <a:ext cx="451096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200 remaining stations</a:t>
            </a:r>
            <a:endParaRPr lang="en-US" sz="110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</a:rPr>
              <a:t>Integrate real-time MTA delay feeds</a:t>
            </a: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312" y="4951214"/>
            <a:ext cx="421669" cy="952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36438" y="5091708"/>
            <a:ext cx="4300132" cy="21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00BF"/>
                </a:solidFill>
              </a:rPr>
              <a:t>Phase 3: Optimize</a:t>
            </a:r>
            <a:endParaRPr lang="en-US" sz="1350" dirty="0"/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36789252-4D73-64B0-E4C7-539D05C652E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96807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5336B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34133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" b="0">
                <a:solidFill>
                  <a:srgbClr val="0F172A"/>
                </a:solidFill>
              </a:rPr>
              <a:t/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1475" y="3141861"/>
            <a:ext cx="3533587" cy="232201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blurRad="2222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0299" y="3290689"/>
            <a:ext cx="446473" cy="446484"/>
          </a:xfrm>
          <a:prstGeom prst="ellipse">
            <a:avLst/>
          </a:prstGeom>
          <a:solidFill>
            <a:srgbClr val="0533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030" y="3413423"/>
            <a:ext cx="200913" cy="2009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0299" y="3871119"/>
            <a:ext cx="3235939" cy="23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The Problem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0299" y="4183955"/>
            <a:ext cx="323593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50% of stations maxed out.</a:t>
            </a:r>
            <a:endParaRPr lang="en-US" sz="115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MTA deteriorating. 8.3M residents need options.</a:t>
            </a:r>
          </a:p>
        </p:txBody>
      </p:sp>
      <p:sp>
        <p:nvSpPr>
          <p:cNvPr id="13" name="Shape 10"/>
          <p:cNvSpPr/>
          <p:nvPr/>
        </p:nvSpPr>
        <p:spPr>
          <a:xfrm>
            <a:off x="4329004" y="3141861"/>
            <a:ext cx="3533587" cy="232201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blurRad="2222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77829" y="3290689"/>
            <a:ext cx="446473" cy="446484"/>
          </a:xfrm>
          <a:prstGeom prst="ellipse">
            <a:avLst/>
          </a:prstGeom>
          <a:solidFill>
            <a:srgbClr val="0533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0559" y="3413423"/>
            <a:ext cx="200913" cy="2009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77829" y="3871119"/>
            <a:ext cx="3235939" cy="23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The Insight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477829" y="4183955"/>
            <a:ext cx="3235939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Demand is predictable.</a:t>
            </a:r>
            <a:endParaRPr lang="en-US" sz="115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</a:rPr>
              <a:t>XGBoost MAE 11.24. MTA data shows exactly where to expand.</a:t>
            </a:r>
          </a:p>
        </p:txBody>
      </p:sp>
      <p:sp>
        <p:nvSpPr>
          <p:cNvPr id="18" name="Shape 14"/>
          <p:cNvSpPr/>
          <p:nvPr/>
        </p:nvSpPr>
        <p:spPr>
          <a:xfrm>
            <a:off x="7996534" y="3141861"/>
            <a:ext cx="3533587" cy="232201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blurRad="222250" dist="50800" dir="162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45358" y="3290689"/>
            <a:ext cx="446473" cy="446484"/>
          </a:xfrm>
          <a:prstGeom prst="ellipse">
            <a:avLst/>
          </a:prstGeom>
          <a:solidFill>
            <a:srgbClr val="0533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68088" y="3413423"/>
            <a:ext cx="200913" cy="2009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45358" y="3871119"/>
            <a:ext cx="3235939" cy="23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00BF"/>
                </a:solidFill>
              </a:rPr>
              <a:t>The Value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145358" y="4183955"/>
            <a:ext cx="323593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FF00BF"/>
                </a:solidFill>
              </a:rPr>
              <a:t>250 stations → $11.3M/yr</a:t>
            </a:r>
            <a:endParaRPr lang="en-US" sz="115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</a:rPr>
              <a:t>17-month payback. The data says invest now.</a:t>
            </a:r>
          </a:p>
        </p:txBody>
      </p:sp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3DD08663-AF45-6A4D-FA2A-C9E52F8D198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1341993" y="6007993"/>
            <a:ext cx="850007" cy="8500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33EC0F3A-8F4B-F722-76ED-ACE46CEF081E}"/>
              </a:ext>
            </a:extLst>
          </p:cNvPr>
          <p:cNvSpPr/>
          <p:nvPr/>
        </p:nvSpPr>
        <p:spPr>
          <a:xfrm>
            <a:off x="661475" y="968077"/>
            <a:ext cx="10868745" cy="465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600" b="1">
                <a:solidFill>
                  <a:srgbClr val="FFFFFF"/>
                </a:solidFill>
              </a:rPr>
              <a:t>Thank You</a:t>
            </a:r>
            <a:endParaRPr lang="en-US" sz="2900" dirty="0"/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D7FF9"/>
                </a:solidFill>
              </a:rPr>
              <a:t>Nathan  ·  Jenny  ·  Nosaifa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00BF"/>
                </a:solidFill>
              </a:rPr>
              <a:t>citibike-citycycle.streamlit.app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94A3B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4450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B601ACC732F04795ACCC918E993A34" ma:contentTypeVersion="12" ma:contentTypeDescription="Create a new document." ma:contentTypeScope="" ma:versionID="03e1199501e68ada2aaffaa78418beea">
  <xsd:schema xmlns:xsd="http://www.w3.org/2001/XMLSchema" xmlns:xs="http://www.w3.org/2001/XMLSchema" xmlns:p="http://schemas.microsoft.com/office/2006/metadata/properties" xmlns:ns2="b528cbb1-efe4-49d2-943e-42cf8ff49a2c" xmlns:ns3="5eee67af-447e-49c1-ab5e-2d48fe3c49bb" targetNamespace="http://schemas.microsoft.com/office/2006/metadata/properties" ma:root="true" ma:fieldsID="ee34d8d56b61101523ccc2869a5d90e5" ns2:_="" ns3:_="">
    <xsd:import namespace="b528cbb1-efe4-49d2-943e-42cf8ff49a2c"/>
    <xsd:import namespace="5eee67af-447e-49c1-ab5e-2d48fe3c49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28cbb1-efe4-49d2-943e-42cf8ff49a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2597c87-0a2f-4bcb-98aa-a355c72904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e67af-447e-49c1-ab5e-2d48fe3c49b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9abb662-3373-45d7-a552-3f763516f167}" ma:internalName="TaxCatchAll" ma:showField="CatchAllData" ma:web="5eee67af-447e-49c1-ab5e-2d48fe3c49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28cbb1-efe4-49d2-943e-42cf8ff49a2c">
      <Terms xmlns="http://schemas.microsoft.com/office/infopath/2007/PartnerControls"/>
    </lcf76f155ced4ddcb4097134ff3c332f>
    <TaxCatchAll xmlns="5eee67af-447e-49c1-ab5e-2d48fe3c49b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5CF5D1-785F-4FB7-9184-1302B63844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28cbb1-efe4-49d2-943e-42cf8ff49a2c"/>
    <ds:schemaRef ds:uri="5eee67af-447e-49c1-ab5e-2d48fe3c49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49CD10-EEB6-4E56-ABF6-3818E8B966FF}">
  <ds:schemaRefs>
    <ds:schemaRef ds:uri="http://schemas.microsoft.com/office/2006/metadata/properties"/>
    <ds:schemaRef ds:uri="http://schemas.microsoft.com/office/infopath/2007/PartnerControls"/>
    <ds:schemaRef ds:uri="b528cbb1-efe4-49d2-943e-42cf8ff49a2c"/>
    <ds:schemaRef ds:uri="5eee67af-447e-49c1-ab5e-2d48fe3c49bb"/>
  </ds:schemaRefs>
</ds:datastoreItem>
</file>

<file path=customXml/itemProps3.xml><?xml version="1.0" encoding="utf-8"?>
<ds:datastoreItem xmlns:ds="http://schemas.openxmlformats.org/officeDocument/2006/customXml" ds:itemID="{E39DAD38-3912-4CAB-974B-A0B187521F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1392</Words>
  <Application>Microsoft Macintosh PowerPoint</Application>
  <PresentationFormat>Widescreen</PresentationFormat>
  <Paragraphs>124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Source Serif 4</vt:lpstr>
      <vt:lpstr>Nunito Sans Bold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darion Cole</dc:creator>
  <cp:lastModifiedBy>Mariia Voronina</cp:lastModifiedBy>
  <cp:revision>9</cp:revision>
  <dcterms:created xsi:type="dcterms:W3CDTF">2026-07-24T15:43:36Z</dcterms:created>
  <dcterms:modified xsi:type="dcterms:W3CDTF">2026-08-11T13:29:06Z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0x0101008AB601ACC732F04795ACCC918E993A34</vt:lpwstr>
  </property>
</Properties>
</file>