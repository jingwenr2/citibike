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1.svg" ContentType="image/svg+xml"/>
  <Override PartName="/ppt/media/image13.svg" ContentType="image/svg+xml"/>
  <Override PartName="/ppt/media/image15.svg" ContentType="image/svg+xml"/>
  <Override PartName="/ppt/media/image17.svg" ContentType="image/svg+xml"/>
  <Override PartName="/ppt/media/image19.svg" ContentType="image/svg+xml"/>
  <Override PartName="/ppt/media/image2.svg" ContentType="image/svg+xml"/>
  <Override PartName="/ppt/media/image23.svg" ContentType="image/svg+xml"/>
  <Override PartName="/ppt/media/image25.svg" ContentType="image/svg+xml"/>
  <Override PartName="/ppt/media/image27.svg" ContentType="image/svg+xml"/>
  <Override PartName="/ppt/media/image5.svg" ContentType="image/svg+xml"/>
  <Override PartName="/ppt/media/image7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4"/>
  </p:sldMasterIdLst>
  <p:notesMasterIdLst>
    <p:notesMasterId r:id="rId22"/>
  </p:notesMasterIdLst>
  <p:sldIdLst>
    <p:sldId id="271" r:id="rId5"/>
    <p:sldId id="257" r:id="rId6"/>
    <p:sldId id="258" r:id="rId7"/>
    <p:sldId id="259" r:id="rId8"/>
    <p:sldId id="260" r:id="rId9"/>
    <p:sldId id="261" r:id="rId10"/>
    <p:sldId id="262" r:id="rId11"/>
    <p:sldId id="274" r:id="rId12"/>
    <p:sldId id="263" r:id="rId13"/>
    <p:sldId id="264" r:id="rId14"/>
    <p:sldId id="265" r:id="rId15"/>
    <p:sldId id="266" r:id="rId16"/>
    <p:sldId id="272" r:id="rId17"/>
    <p:sldId id="267" r:id="rId18"/>
    <p:sldId id="269" r:id="rId19"/>
    <p:sldId id="270" r:id="rId20"/>
    <p:sldId id="273" r:id="rId21"/>
  </p:sldIdLst>
  <p:sldSz cx="12192000" cy="6858000"/>
  <p:notesSz cx="6858000" cy="12192000"/>
  <p:embeddedFontLst>
    <p:embeddedFont>
      <p:font typeface="Nunito Sans Bold" pitchFamily="2" charset="77"/>
      <p:regular r:id="rId23"/>
      <p:bold r:id="rId24"/>
    </p:embeddedFont>
    <p:embeddedFont>
      <p:font typeface="Source Serif 4" panose="02040603050405020204" pitchFamily="18" charset="0"/>
      <p:regular r:id="rId25"/>
    </p:embeddedFont>
    <p:embeddedFont>
      <p:font typeface="Source Serif 4 Bold" panose="02040603050405020204" pitchFamily="18" charset="0"/>
      <p:regular r:id="rId26"/>
      <p:bold r:id="rId2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40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notesMaster" Target="notesMasters/notesMaster1.xml"/><Relationship Id="rId23" Type="http://schemas.openxmlformats.org/officeDocument/2006/relationships/font" Target="fonts/font1.fntdata"/><Relationship Id="rId24" Type="http://schemas.openxmlformats.org/officeDocument/2006/relationships/font" Target="fonts/font2.fntdata"/><Relationship Id="rId25" Type="http://schemas.openxmlformats.org/officeDocument/2006/relationships/font" Target="fonts/font3.fntdata"/><Relationship Id="rId26" Type="http://schemas.openxmlformats.org/officeDocument/2006/relationships/font" Target="fonts/font4.fntdata"/><Relationship Id="rId27" Type="http://schemas.openxmlformats.org/officeDocument/2006/relationships/font" Target="fonts/font5.fntdata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98892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231E2-127D-4800-DE89-2CF67F3B4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1B1786-CE90-81A6-59BE-2D2AC2D216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0F776D-8E20-EF49-84E6-005D39DC5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F0FB61-AC25-662F-8969-6833E76210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4090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C2BF21-7465-499C-0AFA-84F565B8A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4821BA-9B20-B95C-047A-018097D7CC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A7CF70-EBF8-3190-FBF7-84609CD3B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EE8597-F986-6F26-F1E4-3F7D80C57B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99286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image" Target="../media/image6.png"/><Relationship Id="rId6" Type="http://schemas.openxmlformats.org/officeDocument/2006/relationships/image" Target="../media/image7.svg"/><Relationship Id="rId7" Type="http://schemas.openxmlformats.org/officeDocument/2006/relationships/image" Target="../media/image8.png"/><Relationship Id="rId8" Type="http://schemas.openxmlformats.org/officeDocument/2006/relationships/image" Target="../media/image9.svg"/><Relationship Id="rId9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1.svg"/><Relationship Id="rId5" Type="http://schemas.openxmlformats.org/officeDocument/2006/relationships/image" Target="../media/image12.png"/><Relationship Id="rId6" Type="http://schemas.openxmlformats.org/officeDocument/2006/relationships/image" Target="../media/image13.svg"/><Relationship Id="rId7" Type="http://schemas.openxmlformats.org/officeDocument/2006/relationships/image" Target="../media/image14.png"/><Relationship Id="rId8" Type="http://schemas.openxmlformats.org/officeDocument/2006/relationships/image" Target="../media/image15.svg"/><Relationship Id="rId9" Type="http://schemas.openxmlformats.org/officeDocument/2006/relationships/image" Target="../media/image16.png"/><Relationship Id="rId10" Type="http://schemas.openxmlformats.org/officeDocument/2006/relationships/image" Target="../media/image17.svg"/><Relationship Id="rId11" Type="http://schemas.openxmlformats.org/officeDocument/2006/relationships/image" Target="../media/image18.png"/><Relationship Id="rId12" Type="http://schemas.openxmlformats.org/officeDocument/2006/relationships/image" Target="../media/image19.svg"/><Relationship Id="rId1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Relationship Id="rId4" Type="http://schemas.openxmlformats.org/officeDocument/2006/relationships/image" Target="../media/image11.svg"/><Relationship Id="rId5" Type="http://schemas.openxmlformats.org/officeDocument/2006/relationships/image" Target="../media/image12.png"/><Relationship Id="rId6" Type="http://schemas.openxmlformats.org/officeDocument/2006/relationships/image" Target="../media/image13.svg"/><Relationship Id="rId7" Type="http://schemas.openxmlformats.org/officeDocument/2006/relationships/image" Target="../media/image14.png"/><Relationship Id="rId8" Type="http://schemas.openxmlformats.org/officeDocument/2006/relationships/image" Target="../media/image15.svg"/><Relationship Id="rId9" Type="http://schemas.openxmlformats.org/officeDocument/2006/relationships/image" Target="../media/image16.png"/><Relationship Id="rId10" Type="http://schemas.openxmlformats.org/officeDocument/2006/relationships/image" Target="../media/image17.svg"/><Relationship Id="rId11" Type="http://schemas.openxmlformats.org/officeDocument/2006/relationships/image" Target="../media/image18.png"/><Relationship Id="rId12" Type="http://schemas.openxmlformats.org/officeDocument/2006/relationships/image" Target="../media/image19.svg"/><Relationship Id="rId1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2.png"/><Relationship Id="rId4" Type="http://schemas.openxmlformats.org/officeDocument/2006/relationships/image" Target="../media/image23.svg"/><Relationship Id="rId5" Type="http://schemas.openxmlformats.org/officeDocument/2006/relationships/image" Target="../media/image24.png"/><Relationship Id="rId6" Type="http://schemas.openxmlformats.org/officeDocument/2006/relationships/image" Target="../media/image25.svg"/><Relationship Id="rId7" Type="http://schemas.openxmlformats.org/officeDocument/2006/relationships/image" Target="../media/image26.png"/><Relationship Id="rId8" Type="http://schemas.openxmlformats.org/officeDocument/2006/relationships/image" Target="../media/image27.svg"/><Relationship Id="rId9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3">
            <a:extLst>
              <a:ext uri="{FF2B5EF4-FFF2-40B4-BE49-F238E27FC236}">
                <a16:creationId xmlns:a16="http://schemas.microsoft.com/office/drawing/2014/main" id="{1D91FE2B-9704-58B2-14E5-9FE35E8B8BCA}"/>
              </a:ext>
            </a:extLst>
          </p:cNvPr>
          <p:cNvSpPr/>
          <p:nvPr/>
        </p:nvSpPr>
        <p:spPr>
          <a:xfrm>
            <a:off x="780742" y="1837759"/>
            <a:ext cx="10630514" cy="2112014"/>
          </a:xfrm>
          <a:prstGeom prst="roundRect">
            <a:avLst>
              <a:gd name="adj" fmla="val 5594"/>
            </a:avLst>
          </a:prstGeom>
          <a:solidFill>
            <a:srgbClr val="05336B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C59CD8E4-C743-D7DF-D429-F37EF9EBBB2D}"/>
              </a:ext>
            </a:extLst>
          </p:cNvPr>
          <p:cNvSpPr/>
          <p:nvPr/>
        </p:nvSpPr>
        <p:spPr>
          <a:xfrm>
            <a:off x="554321" y="2661197"/>
            <a:ext cx="10868745" cy="465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3200" b="1">
                <a:solidFill>
                  <a:srgbClr val="0F172A"/>
                </a:solidFill>
              </a:rPr>
              <a:t>CityCycle NYC</a:t>
            </a:r>
            <a:endParaRPr lang="en-US" sz="3200" dirty="0">
              <a:solidFill>
                <a:schemeClr val="bg1"/>
              </a:solidFill>
            </a:endParaRP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600" b="0">
                <a:solidFill>
                  <a:srgbClr val="2D7FF9"/>
                </a:solidFill>
              </a:rPr>
              <a:t>A Data-Driven Investment Case for Citi Bike Expansion</a:t>
            </a:r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7057F6DF-730F-DBD0-DC99-AD33A5FCBD88}"/>
              </a:ext>
            </a:extLst>
          </p:cNvPr>
          <p:cNvSpPr/>
          <p:nvPr/>
        </p:nvSpPr>
        <p:spPr>
          <a:xfrm>
            <a:off x="356834" y="5562738"/>
            <a:ext cx="11478330" cy="226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7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300" b="0">
                <a:solidFill>
                  <a:srgbClr val="64748B"/>
                </a:solidFill>
              </a:rPr>
              <a:t>TTPR Summer 2026  ·  Nathan  ·  Jenny  ·  Nosaifa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04787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61276" y="735032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5336B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Team and Roles</a:t>
            </a:r>
            <a:endParaRPr lang="en-US" sz="3250" dirty="0"/>
          </a:p>
        </p:txBody>
      </p:sp>
      <p:sp>
        <p:nvSpPr>
          <p:cNvPr id="5" name="Text 3"/>
          <p:cNvSpPr/>
          <p:nvPr/>
        </p:nvSpPr>
        <p:spPr>
          <a:xfrm>
            <a:off x="661276" y="1342543"/>
            <a:ext cx="10868745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l">
              <a:lnSpc>
                <a:spcPct val="133000"/>
              </a:lnSpc>
              <a:spcBef>
                <a:spcPts val="0"/>
              </a:spcBef>
              <a:spcAft>
                <a:spcPts val="200"/>
              </a:spcAft>
            </a:pPr>
            <a:r>
              <a:rPr sz="100" b="0">
                <a:solidFill>
                  <a:srgbClr val="0F172A"/>
                </a:solidFill>
              </a:rPr>
              <a:t/>
            </a:r>
          </a:p>
          <a:p>
            <a:pPr>
              <a:lnSpc>
                <a:spcPct val="133000"/>
              </a:lnSpc>
            </a:pPr>
            <a:endParaRPr lang="en-US" sz="16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375" y="2023913"/>
            <a:ext cx="3512653" cy="115087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45718" y="2379310"/>
            <a:ext cx="3143965" cy="163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</a:rPr>
              <a:t>Nathan  —  Data Engineer &amp; Backend Lead</a:t>
            </a:r>
            <a:endParaRPr lang="en-US" sz="16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39322" y="2023913"/>
            <a:ext cx="3512752" cy="1150877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4523666" y="2297477"/>
            <a:ext cx="3144064" cy="163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64748B"/>
                </a:solidFill>
              </a:rPr>
              <a:t>Data pipeline · ETL · Revenue modeling · MTA integration</a:t>
            </a:r>
            <a:endParaRPr lang="en-US" sz="1600" dirty="0"/>
          </a:p>
        </p:txBody>
      </p:sp>
      <p:pic>
        <p:nvPicPr>
          <p:cNvPr id="25" name="Image 0" descr="preencoded.png">
            <a:extLst>
              <a:ext uri="{FF2B5EF4-FFF2-40B4-BE49-F238E27FC236}">
                <a16:creationId xmlns:a16="http://schemas.microsoft.com/office/drawing/2014/main" id="{F5D52607-4740-3B8E-DFA0-76028702AF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677" y="3310224"/>
            <a:ext cx="3512653" cy="1150877"/>
          </a:xfrm>
          <a:prstGeom prst="rect">
            <a:avLst/>
          </a:prstGeom>
        </p:spPr>
      </p:pic>
      <p:sp>
        <p:nvSpPr>
          <p:cNvPr id="26" name="Text 4">
            <a:extLst>
              <a:ext uri="{FF2B5EF4-FFF2-40B4-BE49-F238E27FC236}">
                <a16:creationId xmlns:a16="http://schemas.microsoft.com/office/drawing/2014/main" id="{F21FCB0F-5D1E-E644-5EAE-2DEF2FD4E8DC}"/>
              </a:ext>
            </a:extLst>
          </p:cNvPr>
          <p:cNvSpPr/>
          <p:nvPr/>
        </p:nvSpPr>
        <p:spPr>
          <a:xfrm>
            <a:off x="845717" y="3665858"/>
            <a:ext cx="3143965" cy="163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</a:rPr>
              <a:t>Jenny  —  Data Analyst &amp; Dashboard Lead</a:t>
            </a:r>
            <a:endParaRPr lang="en-US" sz="1600" dirty="0"/>
          </a:p>
        </p:txBody>
      </p:sp>
      <p:pic>
        <p:nvPicPr>
          <p:cNvPr id="27" name="Image 2" descr="preencoded.png">
            <a:extLst>
              <a:ext uri="{FF2B5EF4-FFF2-40B4-BE49-F238E27FC236}">
                <a16:creationId xmlns:a16="http://schemas.microsoft.com/office/drawing/2014/main" id="{71F1F18B-593E-974F-C923-7DCDC8C690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39624" y="3310224"/>
            <a:ext cx="3512752" cy="1150877"/>
          </a:xfrm>
          <a:prstGeom prst="rect">
            <a:avLst/>
          </a:prstGeom>
        </p:spPr>
      </p:pic>
      <p:sp>
        <p:nvSpPr>
          <p:cNvPr id="28" name="Text 6">
            <a:extLst>
              <a:ext uri="{FF2B5EF4-FFF2-40B4-BE49-F238E27FC236}">
                <a16:creationId xmlns:a16="http://schemas.microsoft.com/office/drawing/2014/main" id="{1CBAD6F8-67C3-4918-4D6B-277F757655EC}"/>
              </a:ext>
            </a:extLst>
          </p:cNvPr>
          <p:cNvSpPr/>
          <p:nvPr/>
        </p:nvSpPr>
        <p:spPr>
          <a:xfrm>
            <a:off x="4523968" y="3583788"/>
            <a:ext cx="3144064" cy="163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64748B"/>
                </a:solidFill>
              </a:rPr>
              <a:t>Streamlit dashboard · Plotly charts · UX design</a:t>
            </a:r>
            <a:endParaRPr lang="en-US" sz="1600" dirty="0"/>
          </a:p>
        </p:txBody>
      </p:sp>
      <p:pic>
        <p:nvPicPr>
          <p:cNvPr id="31" name="Image 0" descr="preencoded.png">
            <a:extLst>
              <a:ext uri="{FF2B5EF4-FFF2-40B4-BE49-F238E27FC236}">
                <a16:creationId xmlns:a16="http://schemas.microsoft.com/office/drawing/2014/main" id="{16968632-3A0B-8968-8C8E-DA088CBE45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677" y="4596535"/>
            <a:ext cx="3512653" cy="1150877"/>
          </a:xfrm>
          <a:prstGeom prst="rect">
            <a:avLst/>
          </a:prstGeom>
        </p:spPr>
      </p:pic>
      <p:sp>
        <p:nvSpPr>
          <p:cNvPr id="32" name="Text 4">
            <a:extLst>
              <a:ext uri="{FF2B5EF4-FFF2-40B4-BE49-F238E27FC236}">
                <a16:creationId xmlns:a16="http://schemas.microsoft.com/office/drawing/2014/main" id="{360A638D-91B5-F9D2-399C-653303B76989}"/>
              </a:ext>
            </a:extLst>
          </p:cNvPr>
          <p:cNvSpPr/>
          <p:nvPr/>
        </p:nvSpPr>
        <p:spPr>
          <a:xfrm>
            <a:off x="846020" y="4951932"/>
            <a:ext cx="3143965" cy="163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</a:rPr>
              <a:t>Nosaifa  —  ML Engineer &amp; Forecast Lead</a:t>
            </a:r>
            <a:endParaRPr lang="en-US" sz="1600" dirty="0"/>
          </a:p>
        </p:txBody>
      </p:sp>
      <p:pic>
        <p:nvPicPr>
          <p:cNvPr id="33" name="Image 2" descr="preencoded.png">
            <a:extLst>
              <a:ext uri="{FF2B5EF4-FFF2-40B4-BE49-F238E27FC236}">
                <a16:creationId xmlns:a16="http://schemas.microsoft.com/office/drawing/2014/main" id="{290030BD-8ABA-6C28-5B74-6750833E1E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39624" y="4596535"/>
            <a:ext cx="3512752" cy="1150877"/>
          </a:xfrm>
          <a:prstGeom prst="rect">
            <a:avLst/>
          </a:prstGeom>
        </p:spPr>
      </p:pic>
      <p:sp>
        <p:nvSpPr>
          <p:cNvPr id="34" name="Text 6">
            <a:extLst>
              <a:ext uri="{FF2B5EF4-FFF2-40B4-BE49-F238E27FC236}">
                <a16:creationId xmlns:a16="http://schemas.microsoft.com/office/drawing/2014/main" id="{017D84F8-6F6B-DFC5-D056-215CE3E57974}"/>
              </a:ext>
            </a:extLst>
          </p:cNvPr>
          <p:cNvSpPr/>
          <p:nvPr/>
        </p:nvSpPr>
        <p:spPr>
          <a:xfrm>
            <a:off x="4523968" y="4870099"/>
            <a:ext cx="3144064" cy="163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64748B"/>
                </a:solidFill>
              </a:rPr>
              <a:t>XGBoost forecast · Feature engineering · Model evaluation</a:t>
            </a:r>
            <a:endParaRPr lang="en-US" sz="1600" dirty="0"/>
          </a:p>
        </p:txBody>
      </p:sp>
      <p:pic>
        <p:nvPicPr>
          <p:cNvPr id="3" name="Picture 2" descr="A black background with text&#10;&#10;AI-generated content may be incorrect.">
            <a:extLst>
              <a:ext uri="{FF2B5EF4-FFF2-40B4-BE49-F238E27FC236}">
                <a16:creationId xmlns:a16="http://schemas.microsoft.com/office/drawing/2014/main" id="{7C69142A-24DB-C9EA-528A-AC94D257166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11341993" y="6007993"/>
            <a:ext cx="850007" cy="85000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61475" y="825103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3250" b="1" dirty="0">
                <a:solidFill>
                  <a:srgbClr val="05336B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About Project. Business Problem</a:t>
            </a:r>
            <a:endParaRPr lang="en-US" sz="3250" dirty="0"/>
          </a:p>
        </p:txBody>
      </p:sp>
      <p:sp>
        <p:nvSpPr>
          <p:cNvPr id="5" name="Text 3"/>
          <p:cNvSpPr/>
          <p:nvPr/>
        </p:nvSpPr>
        <p:spPr>
          <a:xfrm>
            <a:off x="661475" y="1589881"/>
            <a:ext cx="10868745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>
              <a:lnSpc>
                <a:spcPct val="133000"/>
              </a:lnSpc>
              <a:spcBef>
                <a:spcPts val="0"/>
              </a:spcBef>
              <a:spcAft>
                <a:spcPts val="200"/>
              </a:spcAft>
            </a:pPr>
            <a:r>
              <a:rPr sz="100" b="0">
                <a:solidFill>
                  <a:srgbClr val="0F172A"/>
                </a:solidFill>
              </a:rPr>
              <a:t/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2415" y="2305149"/>
            <a:ext cx="5470785" cy="4045248"/>
          </a:xfrm>
          <a:prstGeom prst="roundRect">
            <a:avLst>
              <a:gd name="adj" fmla="val 5887"/>
            </a:avLst>
          </a:prstGeom>
          <a:solidFill>
            <a:srgbClr val="05336B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07710" y="2470448"/>
            <a:ext cx="5140196" cy="25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400" b="1">
                <a:solidFill>
                  <a:srgbClr val="2D7FF9"/>
                </a:solidFill>
              </a:rPr>
              <a:t>The Problem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07710" y="2894211"/>
            <a:ext cx="5140196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>
                <a:solidFill>
                  <a:srgbClr val="0F172A"/>
                </a:solidFill>
              </a:rPr>
              <a:t>NYC's Citi Bike generates $196 M/yr — but 50 % of stations are at capacity.</a:t>
            </a:r>
            <a:endParaRPr lang="en-US" sz="1300" dirty="0"/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" b="0">
                <a:solidFill>
                  <a:srgbClr val="0F172A"/>
                </a:solidFill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</a:rPr>
              <a:t>MTA delays are pushing commuters toward alternatives, yet there is no data-driven expansion plan.</a:t>
            </a:r>
          </a:p>
        </p:txBody>
      </p:sp>
      <p:sp>
        <p:nvSpPr>
          <p:cNvPr id="9" name="Text 7"/>
          <p:cNvSpPr/>
          <p:nvPr/>
        </p:nvSpPr>
        <p:spPr>
          <a:xfrm>
            <a:off x="707710" y="3836888"/>
            <a:ext cx="5140196" cy="9095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64160" indent="-264160" algn="l">
              <a:lnSpc>
                <a:spcPct val="133000"/>
              </a:lnSpc>
              <a:spcBef>
                <a:spcPts val="0"/>
              </a:spcBef>
              <a:spcAft>
                <a:spcPts val="200"/>
              </a:spcAft>
              <a:buSzPct val="100000"/>
              <a:buChar char="•"/>
            </a:pPr>
            <a:r>
              <a:rPr sz="1000" b="0">
                <a:solidFill>
                  <a:srgbClr val="0F172A"/>
                </a:solidFill>
              </a:rPr>
              <a:t>▸ 8.3 M NYC residents on aging transit</a:t>
            </a:r>
            <a:endParaRPr lang="en-US" sz="1300" dirty="0"/>
          </a:p>
          <a:p>
            <a:pPr marL="264160" indent="-264160" algn="l">
              <a:lnSpc>
                <a:spcPct val="133000"/>
              </a:lnSpc>
              <a:buSzPct val="100000"/>
              <a:buChar char="•"/>
            </a:pPr>
            <a:endParaRPr lang="en-US" sz="1300" dirty="0"/>
          </a:p>
          <a:p>
            <a:pPr marL="264160" indent="-264160" algn="l">
              <a:lnSpc>
                <a:spcPct val="133000"/>
              </a:lnSpc>
              <a:buSzPct val="100000"/>
              <a:buChar char="•"/>
            </a:pPr>
            <a:endParaRPr lang="en-US" sz="1300" dirty="0"/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72A"/>
                </a:solidFill>
              </a:rPr>
              <a:t>▸ Lyft (operator) leaving revenue on the table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72A"/>
                </a:solidFill>
              </a:rPr>
              <a:t>▸ City planners deciding without forecasts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00BF"/>
                </a:solidFill>
              </a:rPr>
              <a:t>▸ ~$11.3 M/yr in unrealized net profit</a:t>
            </a:r>
          </a:p>
        </p:txBody>
      </p:sp>
      <p:sp>
        <p:nvSpPr>
          <p:cNvPr id="10" name="Text 8"/>
          <p:cNvSpPr/>
          <p:nvPr/>
        </p:nvSpPr>
        <p:spPr>
          <a:xfrm>
            <a:off x="6297554" y="2350449"/>
            <a:ext cx="5232666" cy="25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400" b="1">
                <a:solidFill>
                  <a:srgbClr val="2D7FF9"/>
                </a:solidFill>
              </a:rPr>
              <a:t>Global Context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303904" y="3572272"/>
            <a:ext cx="5232666" cy="12319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64160" indent="-264160" algn="l">
              <a:lnSpc>
                <a:spcPct val="133000"/>
              </a:lnSpc>
              <a:buSzPct val="100000"/>
              <a:buChar char="•"/>
            </a:pP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303904" y="2840249"/>
            <a:ext cx="4530116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0F172A"/>
                </a:solidFill>
              </a:rPr>
              <a:t>China's dockless bike-share proved global demand — but failed outside China (no docks, no gov partnership).</a:t>
            </a:r>
            <a:endParaRPr lang="en-US" sz="1300" dirty="0"/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" b="0">
                <a:solidFill>
                  <a:srgbClr val="0F172A"/>
                </a:solidFill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172A"/>
                </a:solidFill>
              </a:rPr>
              <a:t>Citi Bike's dock-based model works. SF, DC, and Chicago confirm it.</a:t>
            </a:r>
          </a:p>
        </p:txBody>
      </p:sp>
      <p:pic>
        <p:nvPicPr>
          <p:cNvPr id="3" name="Picture 2" descr="A black background with text&#10;&#10;AI-generated content may be incorrect.">
            <a:extLst>
              <a:ext uri="{FF2B5EF4-FFF2-40B4-BE49-F238E27FC236}">
                <a16:creationId xmlns:a16="http://schemas.microsoft.com/office/drawing/2014/main" id="{FFC91A04-7FD7-E87B-971D-A67C6B26B49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11341993" y="6007993"/>
            <a:ext cx="850007" cy="85000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61475" y="1153716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5336B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Project Impact</a:t>
            </a:r>
            <a:endParaRPr lang="en-US" sz="3250" dirty="0"/>
          </a:p>
        </p:txBody>
      </p:sp>
      <p:sp>
        <p:nvSpPr>
          <p:cNvPr id="5" name="Text 3"/>
          <p:cNvSpPr/>
          <p:nvPr/>
        </p:nvSpPr>
        <p:spPr>
          <a:xfrm>
            <a:off x="661475" y="1918494"/>
            <a:ext cx="10868745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" b="0">
                <a:solidFill>
                  <a:srgbClr val="0F172A"/>
                </a:solidFill>
              </a:rPr>
              <a:t/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61475" y="2633762"/>
            <a:ext cx="3512653" cy="2275979"/>
          </a:xfrm>
          <a:prstGeom prst="roundRect">
            <a:avLst>
              <a:gd name="adj" fmla="val 6540"/>
            </a:avLst>
          </a:prstGeom>
          <a:solidFill>
            <a:srgbClr val="FFFFFF"/>
          </a:solidFill>
          <a:ln/>
          <a:effectLst>
            <a:outerShdw blurRad="247650" dist="50800" dir="16200000" algn="bl" rotWithShape="0">
              <a:srgbClr val="333333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6769" y="2799060"/>
            <a:ext cx="3182064" cy="25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200" b="1">
                <a:solidFill>
                  <a:srgbClr val="2D7FF9"/>
                </a:solidFill>
              </a:rPr>
              <a:t>Industry Impact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6769" y="3156744"/>
            <a:ext cx="3182064" cy="1323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>
                <a:solidFill>
                  <a:srgbClr val="0F172A"/>
                </a:solidFill>
              </a:rPr>
              <a:t>$5 B+ global bike-share market</a:t>
            </a:r>
            <a:endParaRPr lang="en-US" sz="1300" dirty="0"/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</a:rPr>
              <a:t>growing 12 % annually.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" b="0">
                <a:solidFill>
                  <a:srgbClr val="0F172A"/>
                </a:solidFill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</a:rPr>
              <a:t>NYC operates the largest system in the Americas.</a:t>
            </a:r>
          </a:p>
        </p:txBody>
      </p:sp>
      <p:sp>
        <p:nvSpPr>
          <p:cNvPr id="9" name="Shape 7"/>
          <p:cNvSpPr/>
          <p:nvPr/>
        </p:nvSpPr>
        <p:spPr>
          <a:xfrm>
            <a:off x="4339422" y="2633762"/>
            <a:ext cx="3512752" cy="2275979"/>
          </a:xfrm>
          <a:prstGeom prst="roundRect">
            <a:avLst>
              <a:gd name="adj" fmla="val 6540"/>
            </a:avLst>
          </a:prstGeom>
          <a:solidFill>
            <a:srgbClr val="FFFFFF"/>
          </a:solidFill>
          <a:ln/>
          <a:effectLst>
            <a:outerShdw blurRad="247650" dist="50800" dir="16200000" algn="bl" rotWithShape="0">
              <a:srgbClr val="333333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04716" y="2799060"/>
            <a:ext cx="3182163" cy="25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200" b="1">
                <a:solidFill>
                  <a:srgbClr val="2D7FF9"/>
                </a:solidFill>
              </a:rPr>
              <a:t>By the Numbers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04716" y="3156744"/>
            <a:ext cx="3182163" cy="1323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800" b="1">
                <a:solidFill>
                  <a:srgbClr val="FF00BF"/>
                </a:solidFill>
              </a:rPr>
              <a:t>$196 M / yr</a:t>
            </a:r>
            <a:endParaRPr lang="en-US" sz="1300" dirty="0"/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</a:rPr>
              <a:t>Citi Bike revenue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2D7FF9"/>
                </a:solidFill>
              </a:rPr>
              <a:t>60.9 M trips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</a:rPr>
              <a:t>in our dataset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0F172A"/>
                </a:solidFill>
              </a:rPr>
              <a:t>50 %+ stations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</a:rPr>
              <a:t>at or above capacity</a:t>
            </a:r>
          </a:p>
        </p:txBody>
      </p:sp>
      <p:sp>
        <p:nvSpPr>
          <p:cNvPr id="12" name="Shape 10"/>
          <p:cNvSpPr/>
          <p:nvPr/>
        </p:nvSpPr>
        <p:spPr>
          <a:xfrm>
            <a:off x="8017468" y="2633762"/>
            <a:ext cx="3512653" cy="2275979"/>
          </a:xfrm>
          <a:prstGeom prst="roundRect">
            <a:avLst>
              <a:gd name="adj" fmla="val 6540"/>
            </a:avLst>
          </a:prstGeom>
          <a:solidFill>
            <a:srgbClr val="FFFFFF"/>
          </a:solidFill>
          <a:ln/>
          <a:effectLst>
            <a:outerShdw blurRad="247650" dist="50800" dir="16200000" algn="bl" rotWithShape="0">
              <a:srgbClr val="333333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182762" y="2799060"/>
            <a:ext cx="3182064" cy="25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200" b="1">
                <a:solidFill>
                  <a:srgbClr val="2D7FF9"/>
                </a:solidFill>
              </a:rPr>
              <a:t>Cost of Inaction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182762" y="3156744"/>
            <a:ext cx="3182064" cy="15876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1">
                <a:solidFill>
                  <a:srgbClr val="0F172A"/>
                </a:solidFill>
              </a:rPr>
              <a:t>Without expansion:</a:t>
            </a:r>
            <a:endParaRPr lang="en-US" sz="1300" dirty="0"/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</a:rPr>
              <a:t>▸ Riders lost to competitors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</a:rPr>
              <a:t>▸ $11.3 M/yr unrealized profit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</a:rPr>
              <a:t>▸ Underserved neighborhoods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</a:rPr>
              <a:t>▸ Compounding loss each year</a:t>
            </a:r>
          </a:p>
        </p:txBody>
      </p:sp>
      <p:pic>
        <p:nvPicPr>
          <p:cNvPr id="3" name="Picture 2" descr="A black background with text&#10;&#10;AI-generated content may be incorrect.">
            <a:extLst>
              <a:ext uri="{FF2B5EF4-FFF2-40B4-BE49-F238E27FC236}">
                <a16:creationId xmlns:a16="http://schemas.microsoft.com/office/drawing/2014/main" id="{0DDA8C73-F517-E2EC-544A-E578D1047CC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11341993" y="6007993"/>
            <a:ext cx="850007" cy="85000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61474" y="1149646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5336B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Project Objectives</a:t>
            </a:r>
            <a:endParaRPr lang="en-US" sz="3250" dirty="0"/>
          </a:p>
        </p:txBody>
      </p:sp>
      <p:sp>
        <p:nvSpPr>
          <p:cNvPr id="5" name="Text 3"/>
          <p:cNvSpPr/>
          <p:nvPr/>
        </p:nvSpPr>
        <p:spPr>
          <a:xfrm>
            <a:off x="661475" y="2172791"/>
            <a:ext cx="10868745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" b="0">
                <a:solidFill>
                  <a:srgbClr val="0F172A"/>
                </a:solidFill>
              </a:rPr>
              <a:t/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61475" y="3053358"/>
            <a:ext cx="5232666" cy="25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200" b="1">
                <a:solidFill>
                  <a:srgbClr val="2D7FF9"/>
                </a:solidFill>
              </a:rPr>
              <a:t>Project Goals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61475" y="3477121"/>
            <a:ext cx="5232666" cy="10584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>
              <a:lnSpc>
                <a:spcPct val="133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F172A"/>
                </a:solidFill>
              </a:rPr>
              <a:t>1.  Build XGBoost demand forecast</a:t>
            </a:r>
            <a:endParaRPr lang="en-US" sz="1300" dirty="0"/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</a:rPr>
              <a:t>     Predict daily station-level trips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F172A"/>
                </a:solidFill>
              </a:rPr>
              <a:t>2.  Identify expansion opportunities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</a:rPr>
              <a:t>     MTA transit + bike demand scoring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F172A"/>
                </a:solidFill>
              </a:rPr>
              <a:t>3.  Calculate expansion ROI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</a:rPr>
              <a:t>     NPV, IRR, payback period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F172A"/>
                </a:solidFill>
              </a:rPr>
              <a:t>4.  Build interactive dashboard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</a:rPr>
              <a:t>     For government decision-makers</a:t>
            </a:r>
          </a:p>
        </p:txBody>
      </p:sp>
      <p:sp>
        <p:nvSpPr>
          <p:cNvPr id="9" name="Shape 7"/>
          <p:cNvSpPr/>
          <p:nvPr/>
        </p:nvSpPr>
        <p:spPr>
          <a:xfrm>
            <a:off x="6184844" y="2888060"/>
            <a:ext cx="5470785" cy="2561928"/>
          </a:xfrm>
          <a:prstGeom prst="roundRect">
            <a:avLst>
              <a:gd name="adj" fmla="val 8271"/>
            </a:avLst>
          </a:prstGeom>
          <a:solidFill>
            <a:srgbClr val="05336B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50139" y="3053358"/>
            <a:ext cx="5140196" cy="25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200" b="1">
                <a:solidFill>
                  <a:srgbClr val="2D7FF9"/>
                </a:solidFill>
              </a:rPr>
              <a:t>Success Metrics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350139" y="3477121"/>
            <a:ext cx="5140196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>
                <a:solidFill>
                  <a:srgbClr val="0F172A"/>
                </a:solidFill>
              </a:rPr>
              <a:t>MAE &lt; 12 trips/day</a:t>
            </a:r>
            <a:endParaRPr lang="en-US" sz="1300" dirty="0"/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0B981"/>
                </a:solidFill>
              </a:rPr>
              <a:t>  Achieved: 11.24 ✓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</a:rPr>
              <a:t>Beat baseline by &gt; 30 %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0B981"/>
                </a:solidFill>
              </a:rPr>
              <a:t>  Achieved: 42.5 % ✓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</a:rPr>
              <a:t>CV MAE &lt; 10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0B981"/>
                </a:solidFill>
              </a:rPr>
              <a:t>  Achieved: 9.35 ✓</a:t>
            </a:r>
          </a:p>
        </p:txBody>
      </p:sp>
      <p:sp>
        <p:nvSpPr>
          <p:cNvPr id="13" name="Text 4">
            <a:extLst>
              <a:ext uri="{FF2B5EF4-FFF2-40B4-BE49-F238E27FC236}">
                <a16:creationId xmlns:a16="http://schemas.microsoft.com/office/drawing/2014/main" id="{4A613010-765F-7154-F3CA-24A2FE30C7AC}"/>
              </a:ext>
            </a:extLst>
          </p:cNvPr>
          <p:cNvSpPr/>
          <p:nvPr/>
        </p:nvSpPr>
        <p:spPr>
          <a:xfrm>
            <a:off x="661475" y="4814490"/>
            <a:ext cx="5232666" cy="25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200" b="1">
                <a:solidFill>
                  <a:srgbClr val="2D7FF9"/>
                </a:solidFill>
              </a:rPr>
              <a:t>Break-Even</a:t>
            </a:r>
          </a:p>
          <a:p>
            <a:pPr marL="0" indent="0" algn="l">
              <a:lnSpc>
                <a:spcPct val="104000"/>
              </a:lnSpc>
              <a:buNone/>
            </a:pPr>
            <a:endParaRPr lang="en-US" sz="2000" dirty="0"/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</a:rPr>
              <a:t>250 stations × $128 K = $32 M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00BF"/>
                </a:solidFill>
              </a:rPr>
              <a:t>Net profit: $11.3 M/yr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0B981"/>
                </a:solidFill>
              </a:rPr>
              <a:t>Payback: 17 months</a:t>
            </a:r>
          </a:p>
        </p:txBody>
      </p:sp>
      <p:pic>
        <p:nvPicPr>
          <p:cNvPr id="3" name="Picture 2" descr="A black background with text&#10;&#10;AI-generated content may be incorrect.">
            <a:extLst>
              <a:ext uri="{FF2B5EF4-FFF2-40B4-BE49-F238E27FC236}">
                <a16:creationId xmlns:a16="http://schemas.microsoft.com/office/drawing/2014/main" id="{96A9D824-2825-4282-E837-AD8F54BEFD1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11341993" y="6007993"/>
            <a:ext cx="850007" cy="85000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61474" y="1069048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5336B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Data Sources &amp; Data Quality</a:t>
            </a:r>
            <a:endParaRPr lang="en-US" sz="3250" dirty="0"/>
          </a:p>
        </p:txBody>
      </p:sp>
      <p:sp>
        <p:nvSpPr>
          <p:cNvPr id="5" name="Text 3"/>
          <p:cNvSpPr/>
          <p:nvPr/>
        </p:nvSpPr>
        <p:spPr>
          <a:xfrm>
            <a:off x="661475" y="2045494"/>
            <a:ext cx="10868745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" b="0">
                <a:solidFill>
                  <a:srgbClr val="0F172A"/>
                </a:solidFill>
              </a:rPr>
              <a:t/>
            </a:r>
            <a:endParaRPr lang="en-US" sz="13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2760762"/>
            <a:ext cx="413434" cy="41344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1577" y="2760762"/>
            <a:ext cx="2864969" cy="25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>
                <a:solidFill>
                  <a:srgbClr val="2D7FF9"/>
                </a:solidFill>
              </a:rPr>
              <a:t>Trip Data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281577" y="3118445"/>
            <a:ext cx="2864969" cy="10584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172A"/>
                </a:solidFill>
              </a:rPr>
              <a:t>Citi Bike trip records (2+ years)</a:t>
            </a:r>
            <a:endParaRPr lang="en-US" sz="1300" dirty="0"/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64748B"/>
                </a:solidFill>
              </a:rPr>
              <a:t>60.9 M trips · start/end station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64748B"/>
                </a:solidFill>
              </a:rPr>
              <a:t>timestamp · rider type · bike type</a:t>
            </a:r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353213" y="2760762"/>
            <a:ext cx="413434" cy="41344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973315" y="2760762"/>
            <a:ext cx="2865068" cy="25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>
                <a:solidFill>
                  <a:srgbClr val="2D7FF9"/>
                </a:solidFill>
              </a:rPr>
              <a:t>Transit &amp; Weather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4973315" y="3118445"/>
            <a:ext cx="2865068" cy="10584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172A"/>
                </a:solidFill>
              </a:rPr>
              <a:t>MTA subway ridership + delays</a:t>
            </a:r>
            <a:endParaRPr lang="en-US" sz="1300" dirty="0"/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64748B"/>
                </a:solidFill>
              </a:rPr>
              <a:t>NOAA weather · NYC open data</a:t>
            </a: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45050" y="2760762"/>
            <a:ext cx="413434" cy="41344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665152" y="2760762"/>
            <a:ext cx="2865068" cy="25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>
                <a:solidFill>
                  <a:srgbClr val="2D7FF9"/>
                </a:solidFill>
              </a:rPr>
              <a:t>Pricing &amp; Revenue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8665152" y="3118445"/>
            <a:ext cx="2865068" cy="10584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0">
                <a:solidFill>
                  <a:srgbClr val="0F172A"/>
                </a:solidFill>
              </a:rPr>
              <a:t>$239 annual / $4.49 single ride</a:t>
            </a:r>
            <a:endParaRPr lang="en-US" sz="1300" dirty="0"/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64748B"/>
                </a:solidFill>
              </a:rPr>
              <a:t>$3.24 avg e-bike overage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64748B"/>
                </a:solidFill>
              </a:rPr>
              <a:t>$17.5 M Citi sponsorship</a:t>
            </a:r>
          </a:p>
        </p:txBody>
      </p:sp>
      <p:sp>
        <p:nvSpPr>
          <p:cNvPr id="15" name="Text 10"/>
          <p:cNvSpPr/>
          <p:nvPr/>
        </p:nvSpPr>
        <p:spPr>
          <a:xfrm>
            <a:off x="661475" y="4528245"/>
            <a:ext cx="5232666" cy="25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>
                <a:solidFill>
                  <a:srgbClr val="2D7FF9"/>
                </a:solidFill>
              </a:rPr>
              <a:t>Data Quality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661475" y="4952008"/>
            <a:ext cx="5232666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0">
                <a:solidFill>
                  <a:srgbClr val="0F172A"/>
                </a:solidFill>
              </a:rPr>
              <a:t>Dropped null stations (&lt; 0.1 %)</a:t>
            </a:r>
            <a:endParaRPr lang="en-US" sz="1300" dirty="0"/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64748B"/>
                </a:solidFill>
              </a:rPr>
              <a:t>Imputed missing capacity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64748B"/>
                </a:solidFill>
              </a:rPr>
              <a:t>Forward-filled weather gaps ≤ 2 d</a:t>
            </a:r>
          </a:p>
        </p:txBody>
      </p:sp>
      <p:sp>
        <p:nvSpPr>
          <p:cNvPr id="17" name="Text 12"/>
          <p:cNvSpPr/>
          <p:nvPr/>
        </p:nvSpPr>
        <p:spPr>
          <a:xfrm>
            <a:off x="6303904" y="4528245"/>
            <a:ext cx="5232666" cy="25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>
                <a:solidFill>
                  <a:srgbClr val="2D7FF9"/>
                </a:solidFill>
              </a:rPr>
              <a:t>Feature Engineering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303904" y="4952008"/>
            <a:ext cx="5232666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172A"/>
                </a:solidFill>
              </a:rPr>
              <a:t>23 features engineered:</a:t>
            </a:r>
            <a:endParaRPr lang="en-US" sz="1300" dirty="0"/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64748B"/>
                </a:solidFill>
              </a:rPr>
              <a:t>Temporal lags · rolling means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64748B"/>
                </a:solidFill>
              </a:rPr>
              <a:t>Weather deviations · MTA scores</a:t>
            </a:r>
          </a:p>
        </p:txBody>
      </p:sp>
      <p:pic>
        <p:nvPicPr>
          <p:cNvPr id="3" name="Picture 2" descr="A black background with text&#10;&#10;AI-generated content may be incorrect.">
            <a:extLst>
              <a:ext uri="{FF2B5EF4-FFF2-40B4-BE49-F238E27FC236}">
                <a16:creationId xmlns:a16="http://schemas.microsoft.com/office/drawing/2014/main" id="{2CE48ECF-FE5D-611F-3DC0-9418159AE7BC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50000"/>
          </a:blip>
          <a:stretch>
            <a:fillRect/>
          </a:stretch>
        </p:blipFill>
        <p:spPr>
          <a:xfrm>
            <a:off x="11341993" y="6007993"/>
            <a:ext cx="850007" cy="85000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61475" y="822722"/>
            <a:ext cx="10868745" cy="508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00" b="1" dirty="0">
                <a:solidFill>
                  <a:srgbClr val="05336B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Analytical Methods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61426" y="1299286"/>
            <a:ext cx="10868745" cy="516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</a:pPr>
            <a:r>
              <a:rPr sz="100" b="0">
                <a:solidFill>
                  <a:srgbClr val="0F172A"/>
                </a:solidFill>
              </a:rPr>
              <a:t/>
            </a:r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26" y="1593073"/>
            <a:ext cx="5354206" cy="1958777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40751" y="1739520"/>
            <a:ext cx="195357" cy="19536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43190" y="2244246"/>
            <a:ext cx="4990677" cy="25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>
                <a:solidFill>
                  <a:srgbClr val="2D7FF9"/>
                </a:solidFill>
              </a:rPr>
              <a:t>Python / Pandas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843190" y="2594687"/>
            <a:ext cx="4990677" cy="516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0">
                <a:solidFill>
                  <a:srgbClr val="0F172A"/>
                </a:solidFill>
              </a:rPr>
              <a:t>ETL pipeline &amp; feature engineering</a:t>
            </a:r>
            <a:endParaRPr lang="en-US" sz="1250" dirty="0"/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64748B"/>
                </a:solidFill>
              </a:rPr>
              <a:t>Parquet for fast I/O</a:t>
            </a:r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75866" y="1593073"/>
            <a:ext cx="5354305" cy="1958777"/>
          </a:xfrm>
          <a:prstGeom prst="rect">
            <a:avLst/>
          </a:prstGeom>
        </p:spPr>
      </p:pic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55291" y="1739520"/>
            <a:ext cx="195357" cy="195362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357630" y="2244246"/>
            <a:ext cx="4990777" cy="25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>
                <a:solidFill>
                  <a:srgbClr val="2D7FF9"/>
                </a:solidFill>
              </a:rPr>
              <a:t>Streamlit / Plotly</a:t>
            </a:r>
            <a:endParaRPr lang="en-US" sz="1600" dirty="0"/>
          </a:p>
        </p:txBody>
      </p:sp>
      <p:sp>
        <p:nvSpPr>
          <p:cNvPr id="13" name="Text 7"/>
          <p:cNvSpPr/>
          <p:nvPr/>
        </p:nvSpPr>
        <p:spPr>
          <a:xfrm>
            <a:off x="6357630" y="2594687"/>
            <a:ext cx="4990777" cy="7753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0">
                <a:solidFill>
                  <a:srgbClr val="0F172A"/>
                </a:solidFill>
              </a:rPr>
              <a:t>9-tab interactive dashboard</a:t>
            </a:r>
            <a:endParaRPr lang="en-US" sz="1250" dirty="0"/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64748B"/>
                </a:solidFill>
              </a:rPr>
              <a:t>Deployed on Streamlit Cloud</a:t>
            </a:r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26" y="3712088"/>
            <a:ext cx="5354206" cy="1958777"/>
          </a:xfrm>
          <a:prstGeom prst="rect">
            <a:avLst/>
          </a:prstGeom>
        </p:spPr>
      </p:pic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240751" y="3858535"/>
            <a:ext cx="195357" cy="195362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843190" y="4363261"/>
            <a:ext cx="4990677" cy="25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>
                <a:solidFill>
                  <a:srgbClr val="2D7FF9"/>
                </a:solidFill>
              </a:rPr>
              <a:t>XGBoost / scikit-learn</a:t>
            </a:r>
            <a:endParaRPr lang="en-US" sz="1600" dirty="0"/>
          </a:p>
        </p:txBody>
      </p:sp>
      <p:sp>
        <p:nvSpPr>
          <p:cNvPr id="17" name="Text 9"/>
          <p:cNvSpPr/>
          <p:nvPr/>
        </p:nvSpPr>
        <p:spPr>
          <a:xfrm>
            <a:off x="843190" y="4713701"/>
            <a:ext cx="4990677" cy="7753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0">
                <a:solidFill>
                  <a:srgbClr val="0F172A"/>
                </a:solidFill>
              </a:rPr>
              <a:t>Demand forecasting w/ early stopping</a:t>
            </a:r>
            <a:endParaRPr lang="en-US" sz="1250" dirty="0"/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64748B"/>
                </a:solidFill>
              </a:rPr>
              <a:t>3-fold time-series cross-validation</a:t>
            </a:r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75866" y="3712088"/>
            <a:ext cx="5354305" cy="1958777"/>
          </a:xfrm>
          <a:prstGeom prst="rect">
            <a:avLst/>
          </a:prstGeom>
        </p:spPr>
      </p:pic>
      <p:pic>
        <p:nvPicPr>
          <p:cNvPr id="19" name="Image 7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755291" y="3858535"/>
            <a:ext cx="195357" cy="195362"/>
          </a:xfrm>
          <a:prstGeom prst="rect">
            <a:avLst/>
          </a:prstGeom>
        </p:spPr>
      </p:pic>
      <p:sp>
        <p:nvSpPr>
          <p:cNvPr id="20" name="Text 10"/>
          <p:cNvSpPr/>
          <p:nvPr/>
        </p:nvSpPr>
        <p:spPr>
          <a:xfrm>
            <a:off x="6357630" y="4363261"/>
            <a:ext cx="4990777" cy="25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>
                <a:solidFill>
                  <a:srgbClr val="2D7FF9"/>
                </a:solidFill>
              </a:rPr>
              <a:t>Financial Modeling</a:t>
            </a:r>
            <a:endParaRPr lang="en-US" sz="1600" dirty="0"/>
          </a:p>
        </p:txBody>
      </p:sp>
      <p:sp>
        <p:nvSpPr>
          <p:cNvPr id="21" name="Text 11"/>
          <p:cNvSpPr/>
          <p:nvPr/>
        </p:nvSpPr>
        <p:spPr>
          <a:xfrm>
            <a:off x="6357630" y="4713702"/>
            <a:ext cx="4990777" cy="7753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72A"/>
                </a:solidFill>
              </a:rPr>
              <a:t>NPV / IRR cash flow analysis</a:t>
            </a:r>
            <a:endParaRPr lang="en-US" sz="1250" dirty="0"/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64748B"/>
                </a:solidFill>
              </a:rPr>
              <a:t>MTA opportunity scoring</a:t>
            </a:r>
          </a:p>
        </p:txBody>
      </p:sp>
      <p:pic>
        <p:nvPicPr>
          <p:cNvPr id="3" name="Picture 2" descr="A black background with text&#10;&#10;AI-generated content may be incorrect.">
            <a:extLst>
              <a:ext uri="{FF2B5EF4-FFF2-40B4-BE49-F238E27FC236}">
                <a16:creationId xmlns:a16="http://schemas.microsoft.com/office/drawing/2014/main" id="{4C4BCC5A-6FDB-3778-E7CD-6EBD155AAAB8}"/>
              </a:ext>
            </a:extLst>
          </p:cNvPr>
          <p:cNvPicPr>
            <a:picLocks noChangeAspect="1"/>
          </p:cNvPicPr>
          <p:nvPr/>
        </p:nvPicPr>
        <p:blipFill>
          <a:blip r:embed="rId13">
            <a:alphaModFix amt="50000"/>
          </a:blip>
          <a:stretch>
            <a:fillRect/>
          </a:stretch>
        </p:blipFill>
        <p:spPr>
          <a:xfrm>
            <a:off x="11341993" y="6007993"/>
            <a:ext cx="850007" cy="85000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32FE4-82A4-BB85-F245-2953A1E1D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40DDE63F-799C-A180-CDBD-8C62F507082A}"/>
              </a:ext>
            </a:extLst>
          </p:cNvPr>
          <p:cNvSpPr/>
          <p:nvPr/>
        </p:nvSpPr>
        <p:spPr>
          <a:xfrm>
            <a:off x="661475" y="822722"/>
            <a:ext cx="10868745" cy="508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00" b="1" dirty="0">
                <a:solidFill>
                  <a:srgbClr val="05336B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AI Usage</a:t>
            </a:r>
            <a:endParaRPr lang="en-US" sz="3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81E896C-8CE9-2F93-5AD9-75B0E3BE2BA4}"/>
              </a:ext>
            </a:extLst>
          </p:cNvPr>
          <p:cNvSpPr/>
          <p:nvPr/>
        </p:nvSpPr>
        <p:spPr>
          <a:xfrm>
            <a:off x="661426" y="1299286"/>
            <a:ext cx="10868745" cy="516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172A"/>
                </a:solidFill>
              </a:rPr>
              <a:t>Claude Code (Anthropic)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2D7FF9"/>
                </a:solidFill>
              </a:rPr>
              <a:t>AI pair-programmer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72A"/>
                </a:solidFill>
              </a:rPr>
              <a:t>▸ Code generation — dashboard, charts, CSS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72A"/>
                </a:solidFill>
              </a:rPr>
              <a:t>▸ Model iteration — XGBoost tuning, features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72A"/>
                </a:solidFill>
              </a:rPr>
              <a:t>▸ Data pipeline — ETL, revenue, MTA integration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72A"/>
                </a:solidFill>
              </a:rPr>
              <a:t>▸ Optimization — caching &amp; fragment decorators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600" b="0">
                <a:solidFill>
                  <a:srgbClr val="0F172A"/>
                </a:solidFill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</a:rPr>
              <a:t>All code reviewed &amp; stress-tested. Every commit co-authored.</a:t>
            </a:r>
          </a:p>
        </p:txBody>
      </p:sp>
      <p:pic>
        <p:nvPicPr>
          <p:cNvPr id="6" name="Image 0" descr="preencoded.png">
            <a:extLst>
              <a:ext uri="{FF2B5EF4-FFF2-40B4-BE49-F238E27FC236}">
                <a16:creationId xmlns:a16="http://schemas.microsoft.com/office/drawing/2014/main" id="{B3639C62-D5ED-98F3-53E9-0B7853C6F1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26" y="1593073"/>
            <a:ext cx="5354206" cy="1958777"/>
          </a:xfrm>
          <a:prstGeom prst="rect">
            <a:avLst/>
          </a:prstGeom>
        </p:spPr>
      </p:pic>
      <p:pic>
        <p:nvPicPr>
          <p:cNvPr id="7" name="Image 1" descr="preencoded.png">
            <a:extLst>
              <a:ext uri="{FF2B5EF4-FFF2-40B4-BE49-F238E27FC236}">
                <a16:creationId xmlns:a16="http://schemas.microsoft.com/office/drawing/2014/main" id="{EDBA2EC3-20E0-8FA2-BDF5-015300E2E4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40751" y="1739520"/>
            <a:ext cx="195357" cy="195362"/>
          </a:xfrm>
          <a:prstGeom prst="rect">
            <a:avLst/>
          </a:prstGeom>
        </p:spPr>
      </p:pic>
      <p:pic>
        <p:nvPicPr>
          <p:cNvPr id="10" name="Image 2" descr="preencoded.png">
            <a:extLst>
              <a:ext uri="{FF2B5EF4-FFF2-40B4-BE49-F238E27FC236}">
                <a16:creationId xmlns:a16="http://schemas.microsoft.com/office/drawing/2014/main" id="{731B2C91-9B91-6C4C-3887-6C761509DB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75866" y="1593073"/>
            <a:ext cx="5354305" cy="1958777"/>
          </a:xfrm>
          <a:prstGeom prst="rect">
            <a:avLst/>
          </a:prstGeom>
        </p:spPr>
      </p:pic>
      <p:pic>
        <p:nvPicPr>
          <p:cNvPr id="11" name="Image 3" descr="preencoded.png">
            <a:extLst>
              <a:ext uri="{FF2B5EF4-FFF2-40B4-BE49-F238E27FC236}">
                <a16:creationId xmlns:a16="http://schemas.microsoft.com/office/drawing/2014/main" id="{0525E5A0-B570-B18B-E31E-B03249A1C43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55291" y="1739520"/>
            <a:ext cx="195357" cy="195362"/>
          </a:xfrm>
          <a:prstGeom prst="rect">
            <a:avLst/>
          </a:prstGeom>
        </p:spPr>
      </p:pic>
      <p:pic>
        <p:nvPicPr>
          <p:cNvPr id="14" name="Image 4" descr="preencoded.png">
            <a:extLst>
              <a:ext uri="{FF2B5EF4-FFF2-40B4-BE49-F238E27FC236}">
                <a16:creationId xmlns:a16="http://schemas.microsoft.com/office/drawing/2014/main" id="{6C949D0A-4065-2F0D-129C-20C8DF942A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26" y="3712088"/>
            <a:ext cx="5354206" cy="1958777"/>
          </a:xfrm>
          <a:prstGeom prst="rect">
            <a:avLst/>
          </a:prstGeom>
        </p:spPr>
      </p:pic>
      <p:pic>
        <p:nvPicPr>
          <p:cNvPr id="15" name="Image 5" descr="preencoded.png">
            <a:extLst>
              <a:ext uri="{FF2B5EF4-FFF2-40B4-BE49-F238E27FC236}">
                <a16:creationId xmlns:a16="http://schemas.microsoft.com/office/drawing/2014/main" id="{6C5A02E2-DBE3-1422-CA9B-9F4EE4F1212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240751" y="3858535"/>
            <a:ext cx="195357" cy="195362"/>
          </a:xfrm>
          <a:prstGeom prst="rect">
            <a:avLst/>
          </a:prstGeom>
        </p:spPr>
      </p:pic>
      <p:pic>
        <p:nvPicPr>
          <p:cNvPr id="18" name="Image 6" descr="preencoded.png">
            <a:extLst>
              <a:ext uri="{FF2B5EF4-FFF2-40B4-BE49-F238E27FC236}">
                <a16:creationId xmlns:a16="http://schemas.microsoft.com/office/drawing/2014/main" id="{8A86F530-41A3-4FF6-BA89-D6496068C5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75866" y="3712088"/>
            <a:ext cx="5354305" cy="1958777"/>
          </a:xfrm>
          <a:prstGeom prst="rect">
            <a:avLst/>
          </a:prstGeom>
        </p:spPr>
      </p:pic>
      <p:pic>
        <p:nvPicPr>
          <p:cNvPr id="19" name="Image 7" descr="preencoded.png">
            <a:extLst>
              <a:ext uri="{FF2B5EF4-FFF2-40B4-BE49-F238E27FC236}">
                <a16:creationId xmlns:a16="http://schemas.microsoft.com/office/drawing/2014/main" id="{C8C75FF2-5A80-4912-8252-B9D30F1D5CB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755291" y="3858535"/>
            <a:ext cx="195357" cy="195362"/>
          </a:xfrm>
          <a:prstGeom prst="rect">
            <a:avLst/>
          </a:prstGeom>
        </p:spPr>
      </p:pic>
      <p:pic>
        <p:nvPicPr>
          <p:cNvPr id="3" name="Picture 2" descr="A black background with text&#10;&#10;AI-generated content may be incorrect.">
            <a:extLst>
              <a:ext uri="{FF2B5EF4-FFF2-40B4-BE49-F238E27FC236}">
                <a16:creationId xmlns:a16="http://schemas.microsoft.com/office/drawing/2014/main" id="{FB2A5C9A-5A94-4AEA-6C31-086E1F0F1FAA}"/>
              </a:ext>
            </a:extLst>
          </p:cNvPr>
          <p:cNvPicPr>
            <a:picLocks noChangeAspect="1"/>
          </p:cNvPicPr>
          <p:nvPr/>
        </p:nvPicPr>
        <p:blipFill>
          <a:blip r:embed="rId13">
            <a:alphaModFix amt="50000"/>
          </a:blip>
          <a:stretch>
            <a:fillRect/>
          </a:stretch>
        </p:blipFill>
        <p:spPr>
          <a:xfrm>
            <a:off x="11341993" y="6007993"/>
            <a:ext cx="850007" cy="850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84660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61475" y="901898"/>
            <a:ext cx="10868745" cy="508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00" b="1" dirty="0">
                <a:solidFill>
                  <a:srgbClr val="05336B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Data Analytics Insights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61474" y="1579760"/>
            <a:ext cx="10868745" cy="516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</a:rPr>
              <a:t>Key patterns from 60.9 M Citi Bike trips.</a:t>
            </a:r>
            <a:endParaRPr lang="en-US" sz="1250" dirty="0"/>
          </a:p>
          <a:p>
            <a:pPr marL="0" indent="0" algn="l">
              <a:lnSpc>
                <a:spcPct val="132000"/>
              </a:lnSpc>
              <a:buNone/>
            </a:pP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4300" y="2622550"/>
            <a:ext cx="5470190" cy="3370560"/>
          </a:xfrm>
          <a:prstGeom prst="roundRect">
            <a:avLst>
              <a:gd name="adj" fmla="val 6956"/>
            </a:avLst>
          </a:prstGeom>
          <a:solidFill>
            <a:srgbClr val="05336B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07015" y="2841361"/>
            <a:ext cx="5144760" cy="7753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>
                <a:solidFill>
                  <a:srgbClr val="0F172A"/>
                </a:solidFill>
              </a:rPr>
              <a:t>▸ Weekday demand 40 % &gt; weekends</a:t>
            </a:r>
            <a:endParaRPr lang="en-US" sz="1250" dirty="0"/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F172A"/>
                </a:solidFill>
              </a:rPr>
              <a:t>▸ Peak hours: 8 AM + 5–6 PM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F172A"/>
                </a:solidFill>
              </a:rPr>
              <a:t>▸ Subway delays → 2.3× bike usage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F172A"/>
                </a:solidFill>
              </a:rPr>
              <a:t>▸ Summer = 3× winter demand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F172A"/>
                </a:solidFill>
              </a:rPr>
              <a:t>▸ E-bike share growing rapidly</a:t>
            </a:r>
          </a:p>
        </p:txBody>
      </p:sp>
      <p:sp>
        <p:nvSpPr>
          <p:cNvPr id="13" name="Shape 11"/>
          <p:cNvSpPr/>
          <p:nvPr/>
        </p:nvSpPr>
        <p:spPr>
          <a:xfrm>
            <a:off x="6260377" y="3917487"/>
            <a:ext cx="5235841" cy="1145084"/>
          </a:xfrm>
          <a:prstGeom prst="roundRect">
            <a:avLst>
              <a:gd name="adj" fmla="val 12796"/>
            </a:avLst>
          </a:prstGeom>
          <a:solidFill>
            <a:srgbClr val="CEE3FD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4" name="Text 2">
            <a:extLst>
              <a:ext uri="{FF2B5EF4-FFF2-40B4-BE49-F238E27FC236}">
                <a16:creationId xmlns:a16="http://schemas.microsoft.com/office/drawing/2014/main" id="{DA7B765C-93A7-800E-918D-E40CA4C63D1B}"/>
              </a:ext>
            </a:extLst>
          </p:cNvPr>
          <p:cNvSpPr/>
          <p:nvPr/>
        </p:nvSpPr>
        <p:spPr>
          <a:xfrm>
            <a:off x="6554140" y="2530474"/>
            <a:ext cx="10868745" cy="508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800" b="1">
                <a:solidFill>
                  <a:srgbClr val="FF00BF"/>
                </a:solidFill>
              </a:rPr>
              <a:t>50 %+</a:t>
            </a:r>
            <a:endParaRPr lang="en-US" sz="3200" dirty="0"/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1DE69EA2-5C89-0849-AC60-692001CB92B8}"/>
              </a:ext>
            </a:extLst>
          </p:cNvPr>
          <p:cNvSpPr/>
          <p:nvPr/>
        </p:nvSpPr>
        <p:spPr>
          <a:xfrm>
            <a:off x="6434871" y="3085255"/>
            <a:ext cx="916279" cy="7753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0">
                <a:solidFill>
                  <a:srgbClr val="64748B"/>
                </a:solidFill>
              </a:rPr>
              <a:t>stations maxed out</a:t>
            </a:r>
          </a:p>
        </p:txBody>
      </p:sp>
      <p:sp>
        <p:nvSpPr>
          <p:cNvPr id="17" name="Text 2">
            <a:extLst>
              <a:ext uri="{FF2B5EF4-FFF2-40B4-BE49-F238E27FC236}">
                <a16:creationId xmlns:a16="http://schemas.microsoft.com/office/drawing/2014/main" id="{C6B6A4A9-41C2-0E92-71E4-B58D128DB943}"/>
              </a:ext>
            </a:extLst>
          </p:cNvPr>
          <p:cNvSpPr/>
          <p:nvPr/>
        </p:nvSpPr>
        <p:spPr>
          <a:xfrm>
            <a:off x="7877547" y="2530473"/>
            <a:ext cx="10868745" cy="508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800" b="1">
                <a:solidFill>
                  <a:srgbClr val="2D7FF9"/>
                </a:solidFill>
              </a:rPr>
              <a:t>$196 M</a:t>
            </a:r>
            <a:endParaRPr lang="en-US" sz="3200" dirty="0"/>
          </a:p>
        </p:txBody>
      </p:sp>
      <p:sp>
        <p:nvSpPr>
          <p:cNvPr id="18" name="Text 6">
            <a:extLst>
              <a:ext uri="{FF2B5EF4-FFF2-40B4-BE49-F238E27FC236}">
                <a16:creationId xmlns:a16="http://schemas.microsoft.com/office/drawing/2014/main" id="{33D0F778-607C-EE53-CE04-D0011870D1EB}"/>
              </a:ext>
            </a:extLst>
          </p:cNvPr>
          <p:cNvSpPr/>
          <p:nvPr/>
        </p:nvSpPr>
        <p:spPr>
          <a:xfrm>
            <a:off x="7771531" y="3096006"/>
            <a:ext cx="916279" cy="7753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0">
                <a:solidFill>
                  <a:srgbClr val="64748B"/>
                </a:solidFill>
              </a:rPr>
              <a:t>annual revenue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926DFC8-0180-3DA5-79FC-89EF5285765D}"/>
              </a:ext>
            </a:extLst>
          </p:cNvPr>
          <p:cNvSpPr txBox="1"/>
          <p:nvPr/>
        </p:nvSpPr>
        <p:spPr>
          <a:xfrm>
            <a:off x="8918649" y="2711936"/>
            <a:ext cx="24778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0B981"/>
                </a:solidFill>
              </a:rPr>
              <a:t>42.5 %</a:t>
            </a:r>
          </a:p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64748B"/>
                </a:solidFill>
              </a:rPr>
              <a:t>better than baseline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2D7FF9"/>
                </a:solidFill>
              </a:rPr>
              <a:t>0.987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</a:rPr>
              <a:t>prediction correlation</a:t>
            </a:r>
          </a:p>
        </p:txBody>
      </p:sp>
      <p:pic>
        <p:nvPicPr>
          <p:cNvPr id="3" name="Picture 2" descr="A black background with text&#10;&#10;AI-generated content may be incorrect.">
            <a:extLst>
              <a:ext uri="{FF2B5EF4-FFF2-40B4-BE49-F238E27FC236}">
                <a16:creationId xmlns:a16="http://schemas.microsoft.com/office/drawing/2014/main" id="{23CAB7BB-5EF7-4BCD-5A0B-BEA38AB5748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11341993" y="6007993"/>
            <a:ext cx="850007" cy="85000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61475" y="678954"/>
            <a:ext cx="10868745" cy="36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800" b="1">
                <a:solidFill>
                  <a:srgbClr val="0F172A"/>
                </a:solidFill>
              </a:rPr>
              <a:t>Interactive Streamlit Dashboard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61475" y="1162247"/>
            <a:ext cx="11478330" cy="1192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3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>
                <a:solidFill>
                  <a:srgbClr val="64748B"/>
                </a:solidFill>
              </a:rPr>
              <a:t>9-tab dashboard deployed on Streamlit Community Cloud</a:t>
            </a:r>
          </a:p>
          <a:p>
            <a:pPr marL="0" indent="0" algn="l">
              <a:lnSpc>
                <a:spcPct val="113000"/>
              </a:lnSpc>
              <a:buNone/>
            </a:pPr>
            <a:endParaRPr lang="en-US" sz="11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512A4F-4771-5CB9-A654-CF0AFD85AE48}"/>
              </a:ext>
            </a:extLst>
          </p:cNvPr>
          <p:cNvSpPr txBox="1"/>
          <p:nvPr/>
        </p:nvSpPr>
        <p:spPr>
          <a:xfrm>
            <a:off x="4585251" y="3198167"/>
            <a:ext cx="32826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00BF"/>
                </a:solidFill>
              </a:rPr>
              <a:t>citibike-citycycle.streamlit.app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61376" y="919064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5336B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Predictive Insights</a:t>
            </a:r>
            <a:endParaRPr lang="en-US" sz="3250" dirty="0"/>
          </a:p>
        </p:txBody>
      </p:sp>
      <p:sp>
        <p:nvSpPr>
          <p:cNvPr id="5" name="Text 3"/>
          <p:cNvSpPr/>
          <p:nvPr/>
        </p:nvSpPr>
        <p:spPr>
          <a:xfrm>
            <a:off x="661375" y="1505545"/>
            <a:ext cx="10868745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" b="0">
                <a:solidFill>
                  <a:srgbClr val="0F172A"/>
                </a:solidFill>
              </a:rPr>
              <a:t/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61475" y="2633762"/>
            <a:ext cx="3512653" cy="2540595"/>
          </a:xfrm>
          <a:prstGeom prst="roundRect">
            <a:avLst>
              <a:gd name="adj" fmla="val 5859"/>
            </a:avLst>
          </a:prstGeom>
          <a:solidFill>
            <a:srgbClr val="FFFFFF"/>
          </a:solidFill>
          <a:ln/>
          <a:effectLst>
            <a:outerShdw blurRad="247650" dist="50800" dir="16200000" algn="bl" rotWithShape="0">
              <a:srgbClr val="333333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6769" y="2799060"/>
            <a:ext cx="3182064" cy="25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>
                <a:solidFill>
                  <a:srgbClr val="2D7FF9"/>
                </a:solidFill>
              </a:rPr>
              <a:t>XGBoost Forecast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6769" y="3156744"/>
            <a:ext cx="3182064" cy="18523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>
              <a:lnSpc>
                <a:spcPct val="133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72A"/>
                </a:solidFill>
              </a:rPr>
              <a:t>23 features: lags, rolling means,</a:t>
            </a:r>
            <a:endParaRPr lang="en-US" sz="1300" dirty="0"/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72A"/>
                </a:solidFill>
              </a:rPr>
              <a:t>weather, MTA data, station info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" b="0">
                <a:solidFill>
                  <a:srgbClr val="0F172A"/>
                </a:solidFill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00BF"/>
                </a:solidFill>
              </a:rPr>
              <a:t>MAE 11.24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</a:rPr>
              <a:t>WAPE 19 % · CV MAE 9.35</a:t>
            </a:r>
          </a:p>
        </p:txBody>
      </p:sp>
      <p:sp>
        <p:nvSpPr>
          <p:cNvPr id="9" name="Shape 7"/>
          <p:cNvSpPr/>
          <p:nvPr/>
        </p:nvSpPr>
        <p:spPr>
          <a:xfrm>
            <a:off x="4339422" y="2633762"/>
            <a:ext cx="3512752" cy="2540595"/>
          </a:xfrm>
          <a:prstGeom prst="roundRect">
            <a:avLst>
              <a:gd name="adj" fmla="val 5859"/>
            </a:avLst>
          </a:prstGeom>
          <a:solidFill>
            <a:srgbClr val="FFFFFF"/>
          </a:solidFill>
          <a:ln/>
          <a:effectLst>
            <a:outerShdw blurRad="247650" dist="50800" dir="16200000" algn="bl" rotWithShape="0">
              <a:srgbClr val="333333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04716" y="2799060"/>
            <a:ext cx="3182163" cy="25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>
                <a:solidFill>
                  <a:srgbClr val="2D7FF9"/>
                </a:solidFill>
              </a:rPr>
              <a:t>Expansion Priorities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04716" y="3156744"/>
            <a:ext cx="3182163" cy="1323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0">
                <a:solidFill>
                  <a:srgbClr val="0F172A"/>
                </a:solidFill>
              </a:rPr>
              <a:t>Predicted demand &gt; capacity</a:t>
            </a:r>
            <a:endParaRPr lang="en-US" sz="1300" dirty="0"/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F172A"/>
                </a:solidFill>
              </a:rPr>
              <a:t>= priority expansion zone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" b="0">
                <a:solidFill>
                  <a:srgbClr val="0F172A"/>
                </a:solidFill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</a:rPr>
              <a:t>Combined with MTA scores to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</a:rPr>
              <a:t>rank top dock locations</a:t>
            </a:r>
          </a:p>
        </p:txBody>
      </p:sp>
      <p:sp>
        <p:nvSpPr>
          <p:cNvPr id="12" name="Shape 10"/>
          <p:cNvSpPr/>
          <p:nvPr/>
        </p:nvSpPr>
        <p:spPr>
          <a:xfrm>
            <a:off x="8017468" y="2633762"/>
            <a:ext cx="3512653" cy="2540595"/>
          </a:xfrm>
          <a:prstGeom prst="roundRect">
            <a:avLst>
              <a:gd name="adj" fmla="val 5859"/>
            </a:avLst>
          </a:prstGeom>
          <a:solidFill>
            <a:srgbClr val="FFFFFF"/>
          </a:solidFill>
          <a:ln/>
          <a:effectLst>
            <a:outerShdw blurRad="247650" dist="50800" dir="16200000" algn="bl" rotWithShape="0">
              <a:srgbClr val="333333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182762" y="2799060"/>
            <a:ext cx="3182064" cy="25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>
                <a:solidFill>
                  <a:srgbClr val="2D7FF9"/>
                </a:solidFill>
              </a:rPr>
              <a:t>Transit Opportunity Score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182762" y="3156744"/>
            <a:ext cx="3182064" cy="15876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0">
                <a:solidFill>
                  <a:srgbClr val="0F172A"/>
                </a:solidFill>
              </a:rPr>
              <a:t>Score 0–100 combining:</a:t>
            </a:r>
            <a:endParaRPr lang="en-US" sz="1300" dirty="0"/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</a:rPr>
              <a:t>MTA ridership + delay rates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</a:rPr>
              <a:t>+ bike station proximity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" b="0">
                <a:solidFill>
                  <a:srgbClr val="0F172A"/>
                </a:solidFill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F172A"/>
                </a:solidFill>
              </a:rPr>
              <a:t>High score = unmet demand</a:t>
            </a:r>
          </a:p>
        </p:txBody>
      </p:sp>
      <p:sp>
        <p:nvSpPr>
          <p:cNvPr id="15" name="Shape 13"/>
          <p:cNvSpPr/>
          <p:nvPr/>
        </p:nvSpPr>
        <p:spPr>
          <a:xfrm>
            <a:off x="661475" y="5360393"/>
            <a:ext cx="10868745" cy="417556"/>
          </a:xfrm>
          <a:prstGeom prst="roundRect">
            <a:avLst>
              <a:gd name="adj" fmla="val 22509"/>
            </a:avLst>
          </a:prstGeom>
          <a:solidFill>
            <a:srgbClr val="CEE3FD"/>
          </a:solidFill>
          <a:ln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" b="0">
                <a:solidFill>
                  <a:srgbClr val="0F172A"/>
                </a:solidFill>
              </a:rPr>
              <a:t/>
            </a:r>
          </a:p>
        </p:txBody>
      </p:sp>
      <p:sp>
        <p:nvSpPr>
          <p:cNvPr id="17" name="Text 14"/>
          <p:cNvSpPr/>
          <p:nvPr/>
        </p:nvSpPr>
        <p:spPr>
          <a:xfrm>
            <a:off x="661375" y="2133997"/>
            <a:ext cx="11213820" cy="2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" b="0">
                <a:solidFill>
                  <a:srgbClr val="0F172A"/>
                </a:solidFill>
              </a:rPr>
              <a:t/>
            </a:r>
            <a:endParaRPr lang="en-US" sz="1300" dirty="0"/>
          </a:p>
        </p:txBody>
      </p:sp>
      <p:pic>
        <p:nvPicPr>
          <p:cNvPr id="3" name="Picture 2" descr="A black background with text&#10;&#10;AI-generated content may be incorrect.">
            <a:extLst>
              <a:ext uri="{FF2B5EF4-FFF2-40B4-BE49-F238E27FC236}">
                <a16:creationId xmlns:a16="http://schemas.microsoft.com/office/drawing/2014/main" id="{E1335D58-4302-B468-B08E-BE320894E4D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11341993" y="6007993"/>
            <a:ext cx="850007" cy="85000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61475" y="1058763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5336B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Model Demo</a:t>
            </a:r>
            <a:endParaRPr lang="en-US" sz="3250" dirty="0"/>
          </a:p>
        </p:txBody>
      </p:sp>
      <p:sp>
        <p:nvSpPr>
          <p:cNvPr id="5" name="Text 3"/>
          <p:cNvSpPr/>
          <p:nvPr/>
        </p:nvSpPr>
        <p:spPr>
          <a:xfrm>
            <a:off x="661475" y="1823541"/>
            <a:ext cx="10868745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>
              <a:lnSpc>
                <a:spcPct val="133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172A"/>
                </a:solidFill>
              </a:rPr>
              <a:t>Live demo:</a:t>
            </a:r>
            <a:endParaRPr lang="en-US" sz="1300" dirty="0"/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FF00BF"/>
                </a:solidFill>
              </a:rPr>
              <a:t>citibike-citycycle.streamlit.app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F172A"/>
                </a:solidFill>
              </a:rPr>
              <a:t>▸ Forecast Lab — weather &amp; policy scenarios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F172A"/>
                </a:solidFill>
              </a:rPr>
              <a:t>▸ Gov Investment — budget, NPV, IRR, cash flow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F172A"/>
                </a:solidFill>
              </a:rPr>
              <a:t>▸ Station Explorer — click any station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F172A"/>
                </a:solidFill>
              </a:rPr>
              <a:t>▸ MTA Connection — transit vs bike demand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7C19E-48D8-05B8-1282-DB6C4A03C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96C336B4-3C39-50BF-9DD2-8C9B172C220A}"/>
              </a:ext>
            </a:extLst>
          </p:cNvPr>
          <p:cNvSpPr/>
          <p:nvPr/>
        </p:nvSpPr>
        <p:spPr>
          <a:xfrm>
            <a:off x="661376" y="919064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5336B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Results</a:t>
            </a:r>
            <a:endParaRPr lang="en-US" sz="32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91278E2-952B-76E5-CF59-A32793C2890A}"/>
              </a:ext>
            </a:extLst>
          </p:cNvPr>
          <p:cNvSpPr/>
          <p:nvPr/>
        </p:nvSpPr>
        <p:spPr>
          <a:xfrm>
            <a:off x="661375" y="1505545"/>
            <a:ext cx="10868745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200" b="0">
                <a:solidFill>
                  <a:srgbClr val="64748B"/>
                </a:solidFill>
              </a:rPr>
              <a:t>The numbers that matter:</a:t>
            </a:r>
            <a:endParaRPr lang="en-US" sz="13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CA32663A-3DDD-B4EC-A08B-076A98159AC7}"/>
              </a:ext>
            </a:extLst>
          </p:cNvPr>
          <p:cNvSpPr/>
          <p:nvPr/>
        </p:nvSpPr>
        <p:spPr>
          <a:xfrm>
            <a:off x="661475" y="5360393"/>
            <a:ext cx="10868745" cy="417556"/>
          </a:xfrm>
          <a:prstGeom prst="roundRect">
            <a:avLst>
              <a:gd name="adj" fmla="val 22509"/>
            </a:avLst>
          </a:prstGeom>
          <a:solidFill>
            <a:srgbClr val="CEE3FD"/>
          </a:solidFill>
          <a:ln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00BF"/>
                </a:solidFill>
              </a:rPr>
              <a:t>$196 M / yr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000" b="0">
                <a:solidFill>
                  <a:srgbClr val="64748B"/>
                </a:solidFill>
              </a:rPr>
              <a:t>Citi Bike annual revenue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2D7FF9"/>
                </a:solidFill>
              </a:rPr>
              <a:t>11.24 MAE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000" b="0">
                <a:solidFill>
                  <a:srgbClr val="64748B"/>
                </a:solidFill>
              </a:rPr>
              <a:t>42.5 % better than baseline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0B981"/>
                </a:solidFill>
              </a:rPr>
              <a:t>17-month payback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000" b="0">
                <a:solidFill>
                  <a:srgbClr val="64748B"/>
                </a:solidFill>
              </a:rPr>
              <a:t>250 new stations pay for themselves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0F172A"/>
                </a:solidFill>
              </a:rPr>
              <a:t>0.987 correlation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</a:rPr>
              <a:t>actual vs predicted daily demand</a:t>
            </a:r>
          </a:p>
        </p:txBody>
      </p:sp>
      <p:pic>
        <p:nvPicPr>
          <p:cNvPr id="3" name="Picture 2" descr="A black background with text&#10;&#10;AI-generated content may be incorrect.">
            <a:extLst>
              <a:ext uri="{FF2B5EF4-FFF2-40B4-BE49-F238E27FC236}">
                <a16:creationId xmlns:a16="http://schemas.microsoft.com/office/drawing/2014/main" id="{52F33648-BCC0-9F1A-54AD-D807A7C75DB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11341993" y="6007993"/>
            <a:ext cx="850007" cy="850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43895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61475" y="901502"/>
            <a:ext cx="10868745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b="1" dirty="0">
                <a:solidFill>
                  <a:srgbClr val="05336B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Business Impact</a:t>
            </a:r>
            <a:endParaRPr lang="en-US" sz="3250" dirty="0"/>
          </a:p>
        </p:txBody>
      </p:sp>
      <p:sp>
        <p:nvSpPr>
          <p:cNvPr id="5" name="Text 3"/>
          <p:cNvSpPr/>
          <p:nvPr/>
        </p:nvSpPr>
        <p:spPr>
          <a:xfrm>
            <a:off x="661475" y="1666280"/>
            <a:ext cx="10868745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200" b="0">
                <a:solidFill>
                  <a:srgbClr val="64748B"/>
                </a:solidFill>
              </a:rPr>
              <a:t>From data to dollars: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62691" y="2503091"/>
            <a:ext cx="10868745" cy="925909"/>
          </a:xfrm>
          <a:prstGeom prst="roundRect">
            <a:avLst>
              <a:gd name="adj" fmla="val 16076"/>
            </a:avLst>
          </a:prstGeom>
          <a:solidFill>
            <a:srgbClr val="CEE3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907183" y="2751138"/>
            <a:ext cx="10166195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>
              <a:lnSpc>
                <a:spcPct val="133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00BF"/>
                </a:solidFill>
              </a:rPr>
              <a:t>$11.3 M / yr  net profit</a:t>
            </a:r>
            <a:endParaRPr lang="en-US" sz="1300" dirty="0"/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</a:rPr>
              <a:t>from 250 new stations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172A"/>
                </a:solidFill>
              </a:rPr>
              <a:t>$32 M investment  ·  17-month payback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" b="0">
                <a:solidFill>
                  <a:srgbClr val="0F172A"/>
                </a:solidFill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2D7FF9"/>
                </a:solidFill>
              </a:rPr>
              <a:t>Public benefit: reduced congestion, lower emissions, better transit for 8.3 M residents</a:t>
            </a:r>
          </a:p>
        </p:txBody>
      </p:sp>
      <p:pic>
        <p:nvPicPr>
          <p:cNvPr id="3" name="Picture 2" descr="A black background with text&#10;&#10;AI-generated content may be incorrect.">
            <a:extLst>
              <a:ext uri="{FF2B5EF4-FFF2-40B4-BE49-F238E27FC236}">
                <a16:creationId xmlns:a16="http://schemas.microsoft.com/office/drawing/2014/main" id="{1BAACA58-9685-F85A-5F6D-0E42921FF90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11341993" y="6007993"/>
            <a:ext cx="850007" cy="85000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61475" y="789682"/>
            <a:ext cx="10868745" cy="439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b="1" dirty="0">
                <a:solidFill>
                  <a:srgbClr val="05336B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Recommendations</a:t>
            </a:r>
            <a:endParaRPr lang="en-US" sz="2750" dirty="0"/>
          </a:p>
        </p:txBody>
      </p:sp>
      <p:sp>
        <p:nvSpPr>
          <p:cNvPr id="5" name="Text 3"/>
          <p:cNvSpPr/>
          <p:nvPr/>
        </p:nvSpPr>
        <p:spPr>
          <a:xfrm>
            <a:off x="661475" y="1408113"/>
            <a:ext cx="10868745" cy="4161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100" dirty="0">
                <a:solidFill>
                  <a:srgbClr val="5B6770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End with clear, actionable strategy, not generic suggestions about “future research”. This slide proves that your team can think beyond the data and guide organizational decision-making.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0274" y="1958578"/>
            <a:ext cx="5465328" cy="4371181"/>
          </a:xfrm>
          <a:prstGeom prst="roundRect">
            <a:avLst>
              <a:gd name="adj" fmla="val 4631"/>
            </a:avLst>
          </a:prstGeom>
          <a:solidFill>
            <a:srgbClr val="05336B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00765" y="2078038"/>
            <a:ext cx="5184348" cy="219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200" b="1">
                <a:solidFill>
                  <a:srgbClr val="0F172A"/>
                </a:solidFill>
              </a:rPr>
              <a:t>Strategic Next Steps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649622" y="1865759"/>
            <a:ext cx="5262927" cy="605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" b="0">
                <a:solidFill>
                  <a:srgbClr val="0F172A"/>
                </a:solidFill>
              </a:rPr>
              <a:t/>
            </a:r>
          </a:p>
          <a:p>
            <a:pPr marL="0" indent="0" algn="l">
              <a:lnSpc>
                <a:spcPct val="104000"/>
              </a:lnSpc>
              <a:buNone/>
            </a:pPr>
            <a:endParaRPr lang="en-US" sz="160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643" y="2431951"/>
            <a:ext cx="421669" cy="9525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814769" y="2572445"/>
            <a:ext cx="4721801" cy="219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5B677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Phase 1. Validate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6814769" y="2911475"/>
            <a:ext cx="4721801" cy="4161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0">
                <a:solidFill>
                  <a:srgbClr val="0F172A"/>
                </a:solidFill>
              </a:rPr>
              <a:t>Deploy 50 stations in top MTA zones.</a:t>
            </a:r>
            <a:endParaRPr lang="en-US" sz="1100" dirty="0"/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</a:rPr>
              <a:t>Measure actual vs predicted over 6 mo.</a:t>
            </a:r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4478" y="3587552"/>
            <a:ext cx="421669" cy="9525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025603" y="3728045"/>
            <a:ext cx="4510967" cy="219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5B677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Phase 2. Scale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7025603" y="4067076"/>
            <a:ext cx="4510967" cy="6241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00" b="0">
                <a:solidFill>
                  <a:srgbClr val="0F172A"/>
                </a:solidFill>
              </a:rPr>
              <a:t>Roll out 200 remaining stations.</a:t>
            </a:r>
            <a:endParaRPr lang="en-US" sz="1100" dirty="0"/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</a:rPr>
              <a:t>Integrate real-time MTA delay feeds.</a:t>
            </a:r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5312" y="4951214"/>
            <a:ext cx="421669" cy="9525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36438" y="5091708"/>
            <a:ext cx="4300132" cy="219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>
                <a:solidFill>
                  <a:srgbClr val="2D7FF9"/>
                </a:solidFill>
              </a:rPr>
              <a:t>Phase 3: Optimize</a:t>
            </a:r>
            <a:endParaRPr lang="en-US" sz="1350" dirty="0"/>
          </a:p>
        </p:txBody>
      </p:sp>
      <p:pic>
        <p:nvPicPr>
          <p:cNvPr id="3" name="Picture 2" descr="A black background with text&#10;&#10;AI-generated content may be incorrect.">
            <a:extLst>
              <a:ext uri="{FF2B5EF4-FFF2-40B4-BE49-F238E27FC236}">
                <a16:creationId xmlns:a16="http://schemas.microsoft.com/office/drawing/2014/main" id="{36789252-4D73-64B0-E4C7-539D05C652E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11341993" y="6007993"/>
            <a:ext cx="850007" cy="85000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61475" y="968077"/>
            <a:ext cx="10868745" cy="46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00" b="1" dirty="0">
                <a:solidFill>
                  <a:srgbClr val="05336B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Executive Summary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1475" y="1634133"/>
            <a:ext cx="10868745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" b="0">
                <a:solidFill>
                  <a:srgbClr val="0F172A"/>
                </a:solidFill>
              </a:rPr>
              <a:t/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61475" y="3141861"/>
            <a:ext cx="3533587" cy="232201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/>
          <a:effectLst>
            <a:outerShdw blurRad="222250" dist="50800" dir="16200000" algn="bl" rotWithShape="0">
              <a:srgbClr val="333333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10299" y="3290689"/>
            <a:ext cx="446473" cy="446484"/>
          </a:xfrm>
          <a:prstGeom prst="ellipse">
            <a:avLst/>
          </a:prstGeom>
          <a:solidFill>
            <a:srgbClr val="05336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3030" y="3413423"/>
            <a:ext cx="200913" cy="20091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10299" y="3871119"/>
            <a:ext cx="3235939" cy="23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200" b="1">
                <a:solidFill>
                  <a:srgbClr val="2D7FF9"/>
                </a:solidFill>
              </a:rPr>
              <a:t>The Problem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810299" y="4183955"/>
            <a:ext cx="3235939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>
                <a:solidFill>
                  <a:srgbClr val="0F172A"/>
                </a:solidFill>
              </a:rPr>
              <a:t>50 % of stations are maxed out while MTA service deteriorates.</a:t>
            </a:r>
            <a:endParaRPr lang="en-US" sz="1150" dirty="0"/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</a:rPr>
              <a:t>8.3 M residents need better options.</a:t>
            </a:r>
          </a:p>
        </p:txBody>
      </p:sp>
      <p:sp>
        <p:nvSpPr>
          <p:cNvPr id="13" name="Shape 10"/>
          <p:cNvSpPr/>
          <p:nvPr/>
        </p:nvSpPr>
        <p:spPr>
          <a:xfrm>
            <a:off x="4329004" y="3141861"/>
            <a:ext cx="3533587" cy="232201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/>
          <a:effectLst>
            <a:outerShdw blurRad="222250" dist="50800" dir="16200000" algn="bl" rotWithShape="0">
              <a:srgbClr val="333333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4477829" y="3290689"/>
            <a:ext cx="446473" cy="446484"/>
          </a:xfrm>
          <a:prstGeom prst="ellipse">
            <a:avLst/>
          </a:prstGeom>
          <a:solidFill>
            <a:srgbClr val="05336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00559" y="3413423"/>
            <a:ext cx="200913" cy="20091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477829" y="3871119"/>
            <a:ext cx="3235939" cy="23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200" b="1">
                <a:solidFill>
                  <a:srgbClr val="2D7FF9"/>
                </a:solidFill>
              </a:rPr>
              <a:t>The Core Insight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4477829" y="4183955"/>
            <a:ext cx="3235939" cy="1131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1">
                <a:solidFill>
                  <a:srgbClr val="0F172A"/>
                </a:solidFill>
              </a:rPr>
              <a:t>Demand is predictable.</a:t>
            </a:r>
            <a:endParaRPr lang="en-US" sz="1150" dirty="0"/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</a:rPr>
              <a:t>XGBoost forecasts with 11.24 MAE. MTA data shows exactly where to expand.</a:t>
            </a:r>
          </a:p>
        </p:txBody>
      </p:sp>
      <p:sp>
        <p:nvSpPr>
          <p:cNvPr id="18" name="Shape 14"/>
          <p:cNvSpPr/>
          <p:nvPr/>
        </p:nvSpPr>
        <p:spPr>
          <a:xfrm>
            <a:off x="7996534" y="3141861"/>
            <a:ext cx="3533587" cy="232201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/>
          <a:effectLst>
            <a:outerShdw blurRad="222250" dist="50800" dir="16200000" algn="bl" rotWithShape="0">
              <a:srgbClr val="333333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8145358" y="3290689"/>
            <a:ext cx="446473" cy="446484"/>
          </a:xfrm>
          <a:prstGeom prst="ellipse">
            <a:avLst/>
          </a:prstGeom>
          <a:solidFill>
            <a:srgbClr val="05336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68088" y="3413423"/>
            <a:ext cx="200913" cy="20091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145358" y="3871119"/>
            <a:ext cx="3235939" cy="23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200" b="1">
                <a:solidFill>
                  <a:srgbClr val="2D7FF9"/>
                </a:solidFill>
              </a:rPr>
              <a:t>The Value</a:t>
            </a:r>
            <a:endParaRPr lang="en-US" sz="1450" dirty="0"/>
          </a:p>
        </p:txBody>
      </p:sp>
      <p:sp>
        <p:nvSpPr>
          <p:cNvPr id="22" name="Text 17"/>
          <p:cNvSpPr/>
          <p:nvPr/>
        </p:nvSpPr>
        <p:spPr>
          <a:xfrm>
            <a:off x="8145358" y="4183955"/>
            <a:ext cx="3235939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200" b="1">
                <a:solidFill>
                  <a:srgbClr val="FF00BF"/>
                </a:solidFill>
              </a:rPr>
              <a:t>250 stations → $11.3 M/yr</a:t>
            </a:r>
            <a:endParaRPr lang="en-US" sz="1150" dirty="0"/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72A"/>
                </a:solidFill>
              </a:rPr>
              <a:t>17-month payback. SF, DC, and Chicago prove the model.</a:t>
            </a:r>
          </a:p>
        </p:txBody>
      </p:sp>
      <p:pic>
        <p:nvPicPr>
          <p:cNvPr id="3" name="Picture 2" descr="A black background with text&#10;&#10;AI-generated content may be incorrect.">
            <a:extLst>
              <a:ext uri="{FF2B5EF4-FFF2-40B4-BE49-F238E27FC236}">
                <a16:creationId xmlns:a16="http://schemas.microsoft.com/office/drawing/2014/main" id="{3DD08663-AF45-6A4D-FA2A-C9E52F8D1982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50000"/>
          </a:blip>
          <a:stretch>
            <a:fillRect/>
          </a:stretch>
        </p:blipFill>
        <p:spPr>
          <a:xfrm>
            <a:off x="11341993" y="6007993"/>
            <a:ext cx="850007" cy="85000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2">
            <a:extLst>
              <a:ext uri="{FF2B5EF4-FFF2-40B4-BE49-F238E27FC236}">
                <a16:creationId xmlns:a16="http://schemas.microsoft.com/office/drawing/2014/main" id="{33EC0F3A-8F4B-F722-76ED-ACE46CEF081E}"/>
              </a:ext>
            </a:extLst>
          </p:cNvPr>
          <p:cNvSpPr/>
          <p:nvPr/>
        </p:nvSpPr>
        <p:spPr>
          <a:xfrm>
            <a:off x="661475" y="968077"/>
            <a:ext cx="10868745" cy="465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3200" b="1">
                <a:solidFill>
                  <a:srgbClr val="0F172A"/>
                </a:solidFill>
              </a:rPr>
              <a:t>Thank You</a:t>
            </a:r>
            <a:endParaRPr lang="en-US" sz="2900" dirty="0"/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72A"/>
                </a:solidFill>
              </a:rPr>
              <a:t/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2D7FF9"/>
                </a:solidFill>
              </a:rPr>
              <a:t>Nathan  ·  Jenny  ·  Nosaifa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0F172A"/>
                </a:solidFill>
              </a:rPr>
              <a:t/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FF00BF"/>
                </a:solidFill>
              </a:rPr>
              <a:t>citibike-citycycle.streamlit.app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72A"/>
                </a:solidFill>
              </a:rPr>
              <a:t/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4748B"/>
                </a:solidFill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31445087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AB601ACC732F04795ACCC918E993A34" ma:contentTypeVersion="12" ma:contentTypeDescription="Create a new document." ma:contentTypeScope="" ma:versionID="03e1199501e68ada2aaffaa78418beea">
  <xsd:schema xmlns:xsd="http://www.w3.org/2001/XMLSchema" xmlns:xs="http://www.w3.org/2001/XMLSchema" xmlns:p="http://schemas.microsoft.com/office/2006/metadata/properties" xmlns:ns2="b528cbb1-efe4-49d2-943e-42cf8ff49a2c" xmlns:ns3="5eee67af-447e-49c1-ab5e-2d48fe3c49bb" targetNamespace="http://schemas.microsoft.com/office/2006/metadata/properties" ma:root="true" ma:fieldsID="ee34d8d56b61101523ccc2869a5d90e5" ns2:_="" ns3:_="">
    <xsd:import namespace="b528cbb1-efe4-49d2-943e-42cf8ff49a2c"/>
    <xsd:import namespace="5eee67af-447e-49c1-ab5e-2d48fe3c49b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528cbb1-efe4-49d2-943e-42cf8ff49a2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2" nillable="true" ma:taxonomy="true" ma:internalName="lcf76f155ced4ddcb4097134ff3c332f" ma:taxonomyFieldName="MediaServiceImageTags" ma:displayName="Image Tags" ma:readOnly="false" ma:fieldId="{5cf76f15-5ced-4ddc-b409-7134ff3c332f}" ma:taxonomyMulti="true" ma:sspId="32597c87-0a2f-4bcb-98aa-a355c729041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ee67af-447e-49c1-ab5e-2d48fe3c49bb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69abb662-3373-45d7-a552-3f763516f167}" ma:internalName="TaxCatchAll" ma:showField="CatchAllData" ma:web="5eee67af-447e-49c1-ab5e-2d48fe3c49b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528cbb1-efe4-49d2-943e-42cf8ff49a2c">
      <Terms xmlns="http://schemas.microsoft.com/office/infopath/2007/PartnerControls"/>
    </lcf76f155ced4ddcb4097134ff3c332f>
    <TaxCatchAll xmlns="5eee67af-447e-49c1-ab5e-2d48fe3c49bb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95CF5D1-785F-4FB7-9184-1302B638443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528cbb1-efe4-49d2-943e-42cf8ff49a2c"/>
    <ds:schemaRef ds:uri="5eee67af-447e-49c1-ab5e-2d48fe3c49b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D49CD10-EEB6-4E56-ABF6-3818E8B966FF}">
  <ds:schemaRefs>
    <ds:schemaRef ds:uri="http://schemas.microsoft.com/office/2006/metadata/properties"/>
    <ds:schemaRef ds:uri="http://schemas.microsoft.com/office/infopath/2007/PartnerControls"/>
    <ds:schemaRef ds:uri="b528cbb1-efe4-49d2-943e-42cf8ff49a2c"/>
    <ds:schemaRef ds:uri="5eee67af-447e-49c1-ab5e-2d48fe3c49bb"/>
  </ds:schemaRefs>
</ds:datastoreItem>
</file>

<file path=customXml/itemProps3.xml><?xml version="1.0" encoding="utf-8"?>
<ds:datastoreItem xmlns:ds="http://schemas.openxmlformats.org/officeDocument/2006/customXml" ds:itemID="{E39DAD38-3912-4CAB-974B-A0B187521F9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433</TotalTime>
  <Words>1392</Words>
  <Application>Microsoft Macintosh PowerPoint</Application>
  <PresentationFormat>Widescreen</PresentationFormat>
  <Paragraphs>124</Paragraphs>
  <Slides>17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Source Serif 4</vt:lpstr>
      <vt:lpstr>Nunito Sans Bold</vt:lpstr>
      <vt:lpstr>Source Serif 4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darion Cole</dc:creator>
  <cp:lastModifiedBy>Mariia Voronina</cp:lastModifiedBy>
  <cp:revision>9</cp:revision>
  <dcterms:created xsi:type="dcterms:W3CDTF">2026-07-24T15:43:36Z</dcterms:created>
  <dcterms:modified xsi:type="dcterms:W3CDTF">2026-08-11T13:29:06Z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0x0101008AB601ACC732F04795ACCC918E993A34</vt:lpwstr>
  </property>
</Properties>
</file>